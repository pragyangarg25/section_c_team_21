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3" Type="http://schemas.openxmlformats.org/officeDocument/2006/relationships/image" Target="../media/image8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2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8.jpeg"/><Relationship Id="rId4" Type="http://schemas.openxmlformats.org/officeDocument/2006/relationships/image" Target="../media/image2.jpe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31519" y="960119"/>
            <a:ext cx="10698482" cy="666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38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ROAD CRACK DETECTION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58951" y="1719072"/>
            <a:ext cx="10515601" cy="539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3000">
                <a:solidFill>
                  <a:srgbClr val="2563E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USING OPENCV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786384" y="2450592"/>
            <a:ext cx="9966960" cy="362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Traditional computer vision for road-surface inspection</a:t>
            </a:r>
          </a:p>
        </p:txBody>
      </p:sp>
      <p:pic>
        <p:nvPicPr>
          <p:cNvPr id="9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95159" y="3154679"/>
            <a:ext cx="4297681" cy="2057401"/>
          </a:xfrm>
          <a:prstGeom prst="rect">
            <a:avLst/>
          </a:prstGeom>
          <a:ln w="15240">
            <a:solidFill>
              <a:srgbClr val="FB923C"/>
            </a:solidFill>
          </a:ln>
        </p:spPr>
      </p:pic>
      <p:pic>
        <p:nvPicPr>
          <p:cNvPr id="99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26678" y="4526279"/>
            <a:ext cx="3749040" cy="1417321"/>
          </a:xfrm>
          <a:prstGeom prst="rect">
            <a:avLst/>
          </a:prstGeom>
          <a:ln w="15240">
            <a:solidFill>
              <a:srgbClr val="4ADE80"/>
            </a:solidFill>
          </a:ln>
        </p:spPr>
      </p:pic>
      <p:sp>
        <p:nvSpPr>
          <p:cNvPr id="100" name="TextBox 7"/>
          <p:cNvSpPr txBox="1"/>
          <p:nvPr/>
        </p:nvSpPr>
        <p:spPr>
          <a:xfrm>
            <a:off x="7059168" y="2880360"/>
            <a:ext cx="2011680" cy="235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000">
                <a:solidFill>
                  <a:srgbClr val="D9770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INPUT IMAGE</a:t>
            </a:r>
          </a:p>
        </p:txBody>
      </p:sp>
      <p:sp>
        <p:nvSpPr>
          <p:cNvPr id="101" name="TextBox 8"/>
          <p:cNvSpPr txBox="1"/>
          <p:nvPr/>
        </p:nvSpPr>
        <p:spPr>
          <a:xfrm>
            <a:off x="7790688" y="4261103"/>
            <a:ext cx="2377440" cy="235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000">
                <a:solidFill>
                  <a:srgbClr val="16A34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FEATURE OUTPUT</a:t>
            </a:r>
          </a:p>
        </p:txBody>
      </p:sp>
      <p:sp>
        <p:nvSpPr>
          <p:cNvPr id="102" name="TextBox 9"/>
          <p:cNvSpPr txBox="1"/>
          <p:nvPr/>
        </p:nvSpPr>
        <p:spPr>
          <a:xfrm>
            <a:off x="786383" y="5762542"/>
            <a:ext cx="5760722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IMAGE PROCESSING  ·  EDGE DETECTION  ·  ORB FEATURES</a:t>
            </a:r>
          </a:p>
        </p:txBody>
      </p:sp>
      <p:sp>
        <p:nvSpPr>
          <p:cNvPr id="103" name="TextBox 10"/>
          <p:cNvSpPr txBox="1"/>
          <p:nvPr/>
        </p:nvSpPr>
        <p:spPr>
          <a:xfrm>
            <a:off x="709136" y="3298761"/>
            <a:ext cx="5303521" cy="12891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defRPr sz="16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Presented by :</a:t>
            </a:r>
          </a:p>
          <a:p>
            <a:pPr marL="160421" indent="-160421">
              <a:buSzPct val="100000"/>
              <a:buAutoNum type="arabicPeriod" startAt="1"/>
              <a:defRPr sz="16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Pragyan Garg (20233212)</a:t>
            </a:r>
          </a:p>
          <a:p>
            <a:pPr marL="160421" indent="-160421">
              <a:buSzPct val="100000"/>
              <a:buAutoNum type="arabicPeriod" startAt="1"/>
              <a:defRPr sz="16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 Pushpraj Singh (20233226)</a:t>
            </a:r>
          </a:p>
          <a:p>
            <a:pPr marL="160421" indent="-160421">
              <a:buSzPct val="100000"/>
              <a:buAutoNum type="arabicPeriod" startAt="1"/>
              <a:defRPr sz="16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 Nishan Patgiri (20233204)</a:t>
            </a:r>
          </a:p>
          <a:p>
            <a:pPr marL="160421" indent="-160421">
              <a:buSzPct val="100000"/>
              <a:buAutoNum type="arabicPeriod" startAt="1"/>
              <a:defRPr sz="16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 Piyush Rai (20233210)</a:t>
            </a:r>
          </a:p>
        </p:txBody>
      </p:sp>
      <p:sp>
        <p:nvSpPr>
          <p:cNvPr id="104" name="TextBox 11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01 / 20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D97706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108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Why early crack detection matters</a:t>
            </a:r>
          </a:p>
        </p:txBody>
      </p:sp>
      <p:sp>
        <p:nvSpPr>
          <p:cNvPr id="109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110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 / 20</a:t>
            </a:r>
          </a:p>
        </p:txBody>
      </p:sp>
      <p:sp>
        <p:nvSpPr>
          <p:cNvPr id="111" name="TextBox 6"/>
          <p:cNvSpPr txBox="1"/>
          <p:nvPr/>
        </p:nvSpPr>
        <p:spPr>
          <a:xfrm>
            <a:off x="777240" y="1481327"/>
            <a:ext cx="10515601" cy="743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2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Road cracks start small. Delayed inspection can make maintenance more expensive and difficult.</a:t>
            </a:r>
          </a:p>
        </p:txBody>
      </p:sp>
      <p:sp>
        <p:nvSpPr>
          <p:cNvPr id="112" name="Rounded Rectangle 7"/>
          <p:cNvSpPr/>
          <p:nvPr/>
        </p:nvSpPr>
        <p:spPr>
          <a:xfrm>
            <a:off x="777240" y="2468879"/>
            <a:ext cx="3337560" cy="20116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Rectangle 8"/>
          <p:cNvSpPr/>
          <p:nvPr/>
        </p:nvSpPr>
        <p:spPr>
          <a:xfrm>
            <a:off x="795527" y="2578607"/>
            <a:ext cx="54865" cy="1792225"/>
          </a:xfrm>
          <a:prstGeom prst="rect">
            <a:avLst/>
          </a:prstGeom>
          <a:solidFill>
            <a:srgbClr val="D97706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TextBox 9"/>
          <p:cNvSpPr txBox="1"/>
          <p:nvPr/>
        </p:nvSpPr>
        <p:spPr>
          <a:xfrm>
            <a:off x="978408" y="2633472"/>
            <a:ext cx="2990089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Manual inspection</a:t>
            </a:r>
          </a:p>
        </p:txBody>
      </p:sp>
      <p:sp>
        <p:nvSpPr>
          <p:cNvPr id="115" name="TextBox 10"/>
          <p:cNvSpPr txBox="1"/>
          <p:nvPr/>
        </p:nvSpPr>
        <p:spPr>
          <a:xfrm>
            <a:off x="978408" y="3035807"/>
            <a:ext cx="2971801" cy="438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Large road networks take time and labour to inspect consistently.</a:t>
            </a:r>
          </a:p>
        </p:txBody>
      </p:sp>
      <p:sp>
        <p:nvSpPr>
          <p:cNvPr id="116" name="Rounded Rectangle 11"/>
          <p:cNvSpPr/>
          <p:nvPr/>
        </p:nvSpPr>
        <p:spPr>
          <a:xfrm>
            <a:off x="4407408" y="2468879"/>
            <a:ext cx="3337560" cy="20116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Rectangle 12"/>
          <p:cNvSpPr/>
          <p:nvPr/>
        </p:nvSpPr>
        <p:spPr>
          <a:xfrm>
            <a:off x="4425696" y="2578607"/>
            <a:ext cx="54865" cy="1792225"/>
          </a:xfrm>
          <a:prstGeom prst="rect">
            <a:avLst/>
          </a:prstGeom>
          <a:solidFill>
            <a:srgbClr val="6D28D9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TextBox 13"/>
          <p:cNvSpPr txBox="1"/>
          <p:nvPr/>
        </p:nvSpPr>
        <p:spPr>
          <a:xfrm>
            <a:off x="4608576" y="2633472"/>
            <a:ext cx="2990089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Changing surfaces</a:t>
            </a:r>
          </a:p>
        </p:txBody>
      </p:sp>
      <p:sp>
        <p:nvSpPr>
          <p:cNvPr id="119" name="TextBox 14"/>
          <p:cNvSpPr txBox="1"/>
          <p:nvPr/>
        </p:nvSpPr>
        <p:spPr>
          <a:xfrm>
            <a:off x="4608576" y="3035807"/>
            <a:ext cx="2971801" cy="438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Shadows, rough asphalt and lighting can make cracks hard to spot.</a:t>
            </a:r>
          </a:p>
        </p:txBody>
      </p:sp>
      <p:sp>
        <p:nvSpPr>
          <p:cNvPr id="120" name="Rounded Rectangle 15"/>
          <p:cNvSpPr/>
          <p:nvPr/>
        </p:nvSpPr>
        <p:spPr>
          <a:xfrm>
            <a:off x="8037575" y="2468879"/>
            <a:ext cx="3337561" cy="20116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Rectangle 16"/>
          <p:cNvSpPr/>
          <p:nvPr/>
        </p:nvSpPr>
        <p:spPr>
          <a:xfrm>
            <a:off x="8055863" y="2578607"/>
            <a:ext cx="54865" cy="1792225"/>
          </a:xfrm>
          <a:prstGeom prst="rect">
            <a:avLst/>
          </a:prstGeom>
          <a:solidFill>
            <a:srgbClr val="16A34A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TextBox 17"/>
          <p:cNvSpPr txBox="1"/>
          <p:nvPr/>
        </p:nvSpPr>
        <p:spPr>
          <a:xfrm>
            <a:off x="8238743" y="2633472"/>
            <a:ext cx="2990089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Need for prioritisation</a:t>
            </a:r>
          </a:p>
        </p:txBody>
      </p:sp>
      <p:sp>
        <p:nvSpPr>
          <p:cNvPr id="123" name="TextBox 18"/>
          <p:cNvSpPr txBox="1"/>
          <p:nvPr/>
        </p:nvSpPr>
        <p:spPr>
          <a:xfrm>
            <a:off x="8238743" y="3035807"/>
            <a:ext cx="2971801" cy="438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Potential defects should be found early so experts can assess and repair them.</a:t>
            </a:r>
          </a:p>
        </p:txBody>
      </p:sp>
      <p:sp>
        <p:nvSpPr>
          <p:cNvPr id="124" name="TextBox 19"/>
          <p:cNvSpPr txBox="1"/>
          <p:nvPr/>
        </p:nvSpPr>
        <p:spPr>
          <a:xfrm>
            <a:off x="960119" y="5074920"/>
            <a:ext cx="10241282" cy="362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Goal: help inspectors locate suspicious crack patterns from road images.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What is this project?</a:t>
            </a:r>
          </a:p>
        </p:txBody>
      </p:sp>
      <p:sp>
        <p:nvSpPr>
          <p:cNvPr id="128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lightweight, rule-based computer-vision pipeline</a:t>
            </a:r>
          </a:p>
        </p:txBody>
      </p:sp>
      <p:sp>
        <p:nvSpPr>
          <p:cNvPr id="129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130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 / 20</a:t>
            </a:r>
          </a:p>
        </p:txBody>
      </p:sp>
      <p:pic>
        <p:nvPicPr>
          <p:cNvPr id="131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2960" y="1554480"/>
            <a:ext cx="3063240" cy="2240280"/>
          </a:xfrm>
          <a:prstGeom prst="rect">
            <a:avLst/>
          </a:prstGeom>
          <a:ln w="15240">
            <a:solidFill>
              <a:srgbClr val="FB923C"/>
            </a:solidFill>
          </a:ln>
        </p:spPr>
      </p:pic>
      <p:sp>
        <p:nvSpPr>
          <p:cNvPr id="132" name="TextBox 7"/>
          <p:cNvSpPr txBox="1"/>
          <p:nvPr/>
        </p:nvSpPr>
        <p:spPr>
          <a:xfrm>
            <a:off x="822960" y="3886200"/>
            <a:ext cx="3063240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100">
                <a:solidFill>
                  <a:srgbClr val="D9770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ROAD PHOTO</a:t>
            </a:r>
          </a:p>
        </p:txBody>
      </p:sp>
      <p:sp>
        <p:nvSpPr>
          <p:cNvPr id="133" name="Connector 8"/>
          <p:cNvSpPr/>
          <p:nvPr/>
        </p:nvSpPr>
        <p:spPr>
          <a:xfrm>
            <a:off x="4114800" y="2651760"/>
            <a:ext cx="685800" cy="1"/>
          </a:xfrm>
          <a:prstGeom prst="line">
            <a:avLst/>
          </a:prstGeom>
          <a:ln w="30480">
            <a:solidFill>
              <a:srgbClr val="2563E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" name="Rounded Rectangle 9"/>
          <p:cNvSpPr/>
          <p:nvPr/>
        </p:nvSpPr>
        <p:spPr>
          <a:xfrm>
            <a:off x="4983479" y="1691639"/>
            <a:ext cx="246888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Rectangle 10"/>
          <p:cNvSpPr/>
          <p:nvPr/>
        </p:nvSpPr>
        <p:spPr>
          <a:xfrm>
            <a:off x="5001767" y="1801367"/>
            <a:ext cx="54865" cy="1609345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11"/>
          <p:cNvSpPr txBox="1"/>
          <p:nvPr/>
        </p:nvSpPr>
        <p:spPr>
          <a:xfrm>
            <a:off x="5184647" y="1856232"/>
            <a:ext cx="2121409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OpenCV pipeline</a:t>
            </a:r>
          </a:p>
        </p:txBody>
      </p:sp>
      <p:sp>
        <p:nvSpPr>
          <p:cNvPr id="137" name="TextBox 12"/>
          <p:cNvSpPr txBox="1"/>
          <p:nvPr/>
        </p:nvSpPr>
        <p:spPr>
          <a:xfrm>
            <a:off x="5184647" y="2258567"/>
            <a:ext cx="2103121" cy="616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Enhance image, detect edges, connect gaps and extract features.</a:t>
            </a:r>
          </a:p>
        </p:txBody>
      </p:sp>
      <p:sp>
        <p:nvSpPr>
          <p:cNvPr id="138" name="Connector 13"/>
          <p:cNvSpPr/>
          <p:nvPr/>
        </p:nvSpPr>
        <p:spPr>
          <a:xfrm>
            <a:off x="7726678" y="2651760"/>
            <a:ext cx="685802" cy="1"/>
          </a:xfrm>
          <a:prstGeom prst="line">
            <a:avLst/>
          </a:prstGeom>
          <a:ln w="30480">
            <a:solidFill>
              <a:srgbClr val="16A34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139" name="Picture 14" descr="Picture 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95359" y="1554480"/>
            <a:ext cx="2743201" cy="2240280"/>
          </a:xfrm>
          <a:prstGeom prst="rect">
            <a:avLst/>
          </a:prstGeom>
          <a:ln w="15240">
            <a:solidFill>
              <a:srgbClr val="4ADE80"/>
            </a:solidFill>
          </a:ln>
        </p:spPr>
      </p:pic>
      <p:sp>
        <p:nvSpPr>
          <p:cNvPr id="140" name="TextBox 15"/>
          <p:cNvSpPr txBox="1"/>
          <p:nvPr/>
        </p:nvSpPr>
        <p:spPr>
          <a:xfrm>
            <a:off x="8595359" y="3886200"/>
            <a:ext cx="2743201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100">
                <a:solidFill>
                  <a:srgbClr val="16A34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FEATURE OUTPUT</a:t>
            </a:r>
          </a:p>
        </p:txBody>
      </p:sp>
      <p:sp>
        <p:nvSpPr>
          <p:cNvPr id="141" name="TextBox 16"/>
          <p:cNvSpPr txBox="1"/>
          <p:nvPr/>
        </p:nvSpPr>
        <p:spPr>
          <a:xfrm>
            <a:off x="914399" y="4800600"/>
            <a:ext cx="10332722" cy="641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No model training is required: the script uses predefined image-processing algorithms and ORB feature extraction.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6D28D9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Objectives &amp; scope</a:t>
            </a:r>
          </a:p>
        </p:txBody>
      </p:sp>
      <p:sp>
        <p:nvSpPr>
          <p:cNvPr id="145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the current implementation aims to do</a:t>
            </a:r>
          </a:p>
        </p:txBody>
      </p:sp>
      <p:sp>
        <p:nvSpPr>
          <p:cNvPr id="146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147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 / 20</a:t>
            </a:r>
          </a:p>
        </p:txBody>
      </p:sp>
      <p:sp>
        <p:nvSpPr>
          <p:cNvPr id="148" name="Rounded Rectangle 6"/>
          <p:cNvSpPr/>
          <p:nvPr/>
        </p:nvSpPr>
        <p:spPr>
          <a:xfrm>
            <a:off x="822960" y="1508760"/>
            <a:ext cx="5074921" cy="1463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" name="Rectangle 7"/>
          <p:cNvSpPr/>
          <p:nvPr/>
        </p:nvSpPr>
        <p:spPr>
          <a:xfrm>
            <a:off x="841247" y="1618488"/>
            <a:ext cx="54865" cy="1243585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8"/>
          <p:cNvSpPr txBox="1"/>
          <p:nvPr/>
        </p:nvSpPr>
        <p:spPr>
          <a:xfrm>
            <a:off x="1024128" y="1673350"/>
            <a:ext cx="4727448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01  Enhance the image</a:t>
            </a:r>
          </a:p>
        </p:txBody>
      </p:sp>
      <p:sp>
        <p:nvSpPr>
          <p:cNvPr id="151" name="TextBox 9"/>
          <p:cNvSpPr txBox="1"/>
          <p:nvPr/>
        </p:nvSpPr>
        <p:spPr>
          <a:xfrm>
            <a:off x="1024127" y="2075688"/>
            <a:ext cx="470916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Convert to grayscale and reduce unwanted pixel variation.</a:t>
            </a:r>
          </a:p>
        </p:txBody>
      </p:sp>
      <p:sp>
        <p:nvSpPr>
          <p:cNvPr id="152" name="Rounded Rectangle 10"/>
          <p:cNvSpPr/>
          <p:nvPr/>
        </p:nvSpPr>
        <p:spPr>
          <a:xfrm>
            <a:off x="6263640" y="1508760"/>
            <a:ext cx="5074921" cy="1463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Rectangle 11"/>
          <p:cNvSpPr/>
          <p:nvPr/>
        </p:nvSpPr>
        <p:spPr>
          <a:xfrm>
            <a:off x="6281927" y="1618488"/>
            <a:ext cx="54865" cy="1243585"/>
          </a:xfrm>
          <a:prstGeom prst="rect">
            <a:avLst/>
          </a:prstGeom>
          <a:solidFill>
            <a:srgbClr val="D97706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12"/>
          <p:cNvSpPr txBox="1"/>
          <p:nvPr/>
        </p:nvSpPr>
        <p:spPr>
          <a:xfrm>
            <a:off x="6464806" y="1673350"/>
            <a:ext cx="4727449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  Highlight crack edges</a:t>
            </a:r>
          </a:p>
        </p:txBody>
      </p:sp>
      <p:sp>
        <p:nvSpPr>
          <p:cNvPr id="155" name="TextBox 13"/>
          <p:cNvSpPr txBox="1"/>
          <p:nvPr/>
        </p:nvSpPr>
        <p:spPr>
          <a:xfrm>
            <a:off x="6464806" y="2075688"/>
            <a:ext cx="470916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 edge detection to expose thin, high-contrast structures.</a:t>
            </a:r>
          </a:p>
        </p:txBody>
      </p:sp>
      <p:sp>
        <p:nvSpPr>
          <p:cNvPr id="156" name="Rounded Rectangle 14"/>
          <p:cNvSpPr/>
          <p:nvPr/>
        </p:nvSpPr>
        <p:spPr>
          <a:xfrm>
            <a:off x="822960" y="3337559"/>
            <a:ext cx="5074921" cy="14630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Rectangle 15"/>
          <p:cNvSpPr/>
          <p:nvPr/>
        </p:nvSpPr>
        <p:spPr>
          <a:xfrm>
            <a:off x="841247" y="3447288"/>
            <a:ext cx="54865" cy="1243585"/>
          </a:xfrm>
          <a:prstGeom prst="rect">
            <a:avLst/>
          </a:prstGeom>
          <a:solidFill>
            <a:srgbClr val="16A34A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extBox 16"/>
          <p:cNvSpPr txBox="1"/>
          <p:nvPr/>
        </p:nvSpPr>
        <p:spPr>
          <a:xfrm>
            <a:off x="1024128" y="3502152"/>
            <a:ext cx="4727448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  Improve continuity</a:t>
            </a:r>
          </a:p>
        </p:txBody>
      </p:sp>
      <p:sp>
        <p:nvSpPr>
          <p:cNvPr id="159" name="TextBox 17"/>
          <p:cNvSpPr txBox="1"/>
          <p:nvPr/>
        </p:nvSpPr>
        <p:spPr>
          <a:xfrm>
            <a:off x="1024127" y="3904486"/>
            <a:ext cx="470916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Close small gaps in the detected edge map.</a:t>
            </a:r>
          </a:p>
        </p:txBody>
      </p:sp>
      <p:sp>
        <p:nvSpPr>
          <p:cNvPr id="160" name="Rounded Rectangle 18"/>
          <p:cNvSpPr/>
          <p:nvPr/>
        </p:nvSpPr>
        <p:spPr>
          <a:xfrm>
            <a:off x="6263640" y="3337559"/>
            <a:ext cx="5074921" cy="14630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Rectangle 19"/>
          <p:cNvSpPr/>
          <p:nvPr/>
        </p:nvSpPr>
        <p:spPr>
          <a:xfrm>
            <a:off x="6281927" y="3447288"/>
            <a:ext cx="54865" cy="1243585"/>
          </a:xfrm>
          <a:prstGeom prst="rect">
            <a:avLst/>
          </a:prstGeom>
          <a:solidFill>
            <a:srgbClr val="6D28D9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20"/>
          <p:cNvSpPr txBox="1"/>
          <p:nvPr/>
        </p:nvSpPr>
        <p:spPr>
          <a:xfrm>
            <a:off x="6464806" y="3502152"/>
            <a:ext cx="4727449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  Extract visual features</a:t>
            </a:r>
          </a:p>
        </p:txBody>
      </p:sp>
      <p:sp>
        <p:nvSpPr>
          <p:cNvPr id="163" name="TextBox 21"/>
          <p:cNvSpPr txBox="1"/>
          <p:nvPr/>
        </p:nvSpPr>
        <p:spPr>
          <a:xfrm>
            <a:off x="6464806" y="3904486"/>
            <a:ext cx="470916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 ORB keypoints/descriptors for further image analysis.</a:t>
            </a:r>
          </a:p>
        </p:txBody>
      </p:sp>
      <p:sp>
        <p:nvSpPr>
          <p:cNvPr id="164" name="TextBox 22"/>
          <p:cNvSpPr txBox="1"/>
          <p:nvPr/>
        </p:nvSpPr>
        <p:spPr>
          <a:xfrm>
            <a:off x="914399" y="5349240"/>
            <a:ext cx="10241282" cy="2985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400">
                <a:solidFill>
                  <a:srgbClr val="A1620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Scope note: the current script highlights candidate structures; it does not train a classifier or measure crack depth.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The methodology</a:t>
            </a:r>
          </a:p>
        </p:txBody>
      </p:sp>
      <p:sp>
        <p:nvSpPr>
          <p:cNvPr id="168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From a road photograph to a feature-highlighted output</a:t>
            </a:r>
          </a:p>
        </p:txBody>
      </p:sp>
      <p:sp>
        <p:nvSpPr>
          <p:cNvPr id="169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170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05 / 20</a:t>
            </a:r>
          </a:p>
        </p:txBody>
      </p:sp>
      <p:sp>
        <p:nvSpPr>
          <p:cNvPr id="171" name="Rounded Rectangle 6"/>
          <p:cNvSpPr/>
          <p:nvPr/>
        </p:nvSpPr>
        <p:spPr>
          <a:xfrm>
            <a:off x="658368" y="1691639"/>
            <a:ext cx="2606040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TextBox 7"/>
          <p:cNvSpPr txBox="1"/>
          <p:nvPr/>
        </p:nvSpPr>
        <p:spPr>
          <a:xfrm>
            <a:off x="795527" y="1810511"/>
            <a:ext cx="45720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200">
                <a:solidFill>
                  <a:srgbClr val="D9770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73" name="TextBox 8"/>
          <p:cNvSpPr txBox="1"/>
          <p:nvPr/>
        </p:nvSpPr>
        <p:spPr>
          <a:xfrm>
            <a:off x="795527" y="2121407"/>
            <a:ext cx="2331722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Input</a:t>
            </a:r>
          </a:p>
        </p:txBody>
      </p:sp>
      <p:sp>
        <p:nvSpPr>
          <p:cNvPr id="174" name="TextBox 9"/>
          <p:cNvSpPr txBox="1"/>
          <p:nvPr/>
        </p:nvSpPr>
        <p:spPr>
          <a:xfrm>
            <a:off x="795527" y="2478023"/>
            <a:ext cx="2331722" cy="235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0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Road image</a:t>
            </a:r>
          </a:p>
        </p:txBody>
      </p:sp>
      <p:sp>
        <p:nvSpPr>
          <p:cNvPr id="175" name="Rounded Rectangle 10"/>
          <p:cNvSpPr/>
          <p:nvPr/>
        </p:nvSpPr>
        <p:spPr>
          <a:xfrm>
            <a:off x="3493008" y="1691639"/>
            <a:ext cx="260604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TextBox 11"/>
          <p:cNvSpPr txBox="1"/>
          <p:nvPr/>
        </p:nvSpPr>
        <p:spPr>
          <a:xfrm>
            <a:off x="3630167" y="1810511"/>
            <a:ext cx="45720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77" name="TextBox 12"/>
          <p:cNvSpPr txBox="1"/>
          <p:nvPr/>
        </p:nvSpPr>
        <p:spPr>
          <a:xfrm>
            <a:off x="3630167" y="2121407"/>
            <a:ext cx="2331722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Grayscale</a:t>
            </a:r>
          </a:p>
        </p:txBody>
      </p:sp>
      <p:sp>
        <p:nvSpPr>
          <p:cNvPr id="178" name="TextBox 13"/>
          <p:cNvSpPr txBox="1"/>
          <p:nvPr/>
        </p:nvSpPr>
        <p:spPr>
          <a:xfrm>
            <a:off x="3630167" y="2478023"/>
            <a:ext cx="2331722" cy="235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0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Intensity image</a:t>
            </a:r>
          </a:p>
        </p:txBody>
      </p:sp>
      <p:sp>
        <p:nvSpPr>
          <p:cNvPr id="179" name="Rounded Rectangle 14"/>
          <p:cNvSpPr/>
          <p:nvPr/>
        </p:nvSpPr>
        <p:spPr>
          <a:xfrm>
            <a:off x="6327647" y="1691639"/>
            <a:ext cx="260604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6D28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15"/>
          <p:cNvSpPr txBox="1"/>
          <p:nvPr/>
        </p:nvSpPr>
        <p:spPr>
          <a:xfrm>
            <a:off x="6464808" y="1810511"/>
            <a:ext cx="45720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200">
                <a:solidFill>
                  <a:srgbClr val="6D28D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81" name="TextBox 16"/>
          <p:cNvSpPr txBox="1"/>
          <p:nvPr/>
        </p:nvSpPr>
        <p:spPr>
          <a:xfrm>
            <a:off x="6464808" y="2121407"/>
            <a:ext cx="2331721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Blur + log</a:t>
            </a:r>
          </a:p>
        </p:txBody>
      </p:sp>
      <p:sp>
        <p:nvSpPr>
          <p:cNvPr id="182" name="TextBox 17"/>
          <p:cNvSpPr txBox="1"/>
          <p:nvPr/>
        </p:nvSpPr>
        <p:spPr>
          <a:xfrm>
            <a:off x="6464808" y="2478023"/>
            <a:ext cx="2331721" cy="235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0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Reduce noise / enhance</a:t>
            </a:r>
          </a:p>
        </p:txBody>
      </p:sp>
      <p:sp>
        <p:nvSpPr>
          <p:cNvPr id="183" name="Rounded Rectangle 18"/>
          <p:cNvSpPr/>
          <p:nvPr/>
        </p:nvSpPr>
        <p:spPr>
          <a:xfrm>
            <a:off x="9162288" y="1691639"/>
            <a:ext cx="2606040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6A3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extBox 19"/>
          <p:cNvSpPr txBox="1"/>
          <p:nvPr/>
        </p:nvSpPr>
        <p:spPr>
          <a:xfrm>
            <a:off x="9299447" y="1810511"/>
            <a:ext cx="45720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200">
                <a:solidFill>
                  <a:srgbClr val="16A34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85" name="TextBox 20"/>
          <p:cNvSpPr txBox="1"/>
          <p:nvPr/>
        </p:nvSpPr>
        <p:spPr>
          <a:xfrm>
            <a:off x="9299447" y="2121407"/>
            <a:ext cx="2331721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Bilateral</a:t>
            </a:r>
          </a:p>
        </p:txBody>
      </p:sp>
      <p:sp>
        <p:nvSpPr>
          <p:cNvPr id="186" name="TextBox 21"/>
          <p:cNvSpPr txBox="1"/>
          <p:nvPr/>
        </p:nvSpPr>
        <p:spPr>
          <a:xfrm>
            <a:off x="9299447" y="2478023"/>
            <a:ext cx="2331721" cy="235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0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Smooth, preserve edges</a:t>
            </a:r>
          </a:p>
        </p:txBody>
      </p:sp>
      <p:sp>
        <p:nvSpPr>
          <p:cNvPr id="187" name="Rounded Rectangle 22"/>
          <p:cNvSpPr/>
          <p:nvPr/>
        </p:nvSpPr>
        <p:spPr>
          <a:xfrm>
            <a:off x="658368" y="3703320"/>
            <a:ext cx="2606040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23"/>
          <p:cNvSpPr txBox="1"/>
          <p:nvPr/>
        </p:nvSpPr>
        <p:spPr>
          <a:xfrm>
            <a:off x="795527" y="3822191"/>
            <a:ext cx="45720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200">
                <a:solidFill>
                  <a:srgbClr val="D9770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89" name="TextBox 24"/>
          <p:cNvSpPr txBox="1"/>
          <p:nvPr/>
        </p:nvSpPr>
        <p:spPr>
          <a:xfrm>
            <a:off x="795527" y="4133088"/>
            <a:ext cx="2331722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Canny</a:t>
            </a:r>
          </a:p>
        </p:txBody>
      </p:sp>
      <p:sp>
        <p:nvSpPr>
          <p:cNvPr id="190" name="TextBox 25"/>
          <p:cNvSpPr txBox="1"/>
          <p:nvPr/>
        </p:nvSpPr>
        <p:spPr>
          <a:xfrm>
            <a:off x="795527" y="4489703"/>
            <a:ext cx="2331722" cy="235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0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Detect edges</a:t>
            </a:r>
          </a:p>
        </p:txBody>
      </p:sp>
      <p:sp>
        <p:nvSpPr>
          <p:cNvPr id="191" name="Rounded Rectangle 26"/>
          <p:cNvSpPr/>
          <p:nvPr/>
        </p:nvSpPr>
        <p:spPr>
          <a:xfrm>
            <a:off x="3493008" y="3703320"/>
            <a:ext cx="260604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27"/>
          <p:cNvSpPr txBox="1"/>
          <p:nvPr/>
        </p:nvSpPr>
        <p:spPr>
          <a:xfrm>
            <a:off x="3630167" y="3822191"/>
            <a:ext cx="45720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93" name="TextBox 28"/>
          <p:cNvSpPr txBox="1"/>
          <p:nvPr/>
        </p:nvSpPr>
        <p:spPr>
          <a:xfrm>
            <a:off x="3630167" y="4133088"/>
            <a:ext cx="2331722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Closing</a:t>
            </a:r>
          </a:p>
        </p:txBody>
      </p:sp>
      <p:sp>
        <p:nvSpPr>
          <p:cNvPr id="194" name="TextBox 29"/>
          <p:cNvSpPr txBox="1"/>
          <p:nvPr/>
        </p:nvSpPr>
        <p:spPr>
          <a:xfrm>
            <a:off x="3630167" y="4489703"/>
            <a:ext cx="2331722" cy="235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0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Connect small gaps</a:t>
            </a:r>
          </a:p>
        </p:txBody>
      </p:sp>
      <p:sp>
        <p:nvSpPr>
          <p:cNvPr id="195" name="Rounded Rectangle 30"/>
          <p:cNvSpPr/>
          <p:nvPr/>
        </p:nvSpPr>
        <p:spPr>
          <a:xfrm>
            <a:off x="6327647" y="3703320"/>
            <a:ext cx="260604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6D28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31"/>
          <p:cNvSpPr txBox="1"/>
          <p:nvPr/>
        </p:nvSpPr>
        <p:spPr>
          <a:xfrm>
            <a:off x="6464808" y="3822191"/>
            <a:ext cx="45720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200">
                <a:solidFill>
                  <a:srgbClr val="6D28D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97" name="TextBox 32"/>
          <p:cNvSpPr txBox="1"/>
          <p:nvPr/>
        </p:nvSpPr>
        <p:spPr>
          <a:xfrm>
            <a:off x="6464808" y="4133088"/>
            <a:ext cx="2331721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ORB</a:t>
            </a:r>
          </a:p>
        </p:txBody>
      </p:sp>
      <p:sp>
        <p:nvSpPr>
          <p:cNvPr id="198" name="TextBox 33"/>
          <p:cNvSpPr txBox="1"/>
          <p:nvPr/>
        </p:nvSpPr>
        <p:spPr>
          <a:xfrm>
            <a:off x="6464808" y="4489703"/>
            <a:ext cx="2331721" cy="235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0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Extract keypoints</a:t>
            </a:r>
          </a:p>
        </p:txBody>
      </p:sp>
      <p:sp>
        <p:nvSpPr>
          <p:cNvPr id="199" name="Rounded Rectangle 34"/>
          <p:cNvSpPr/>
          <p:nvPr/>
        </p:nvSpPr>
        <p:spPr>
          <a:xfrm>
            <a:off x="9162288" y="3703320"/>
            <a:ext cx="2606040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6A3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TextBox 35"/>
          <p:cNvSpPr txBox="1"/>
          <p:nvPr/>
        </p:nvSpPr>
        <p:spPr>
          <a:xfrm>
            <a:off x="9299447" y="3822191"/>
            <a:ext cx="45720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200">
                <a:solidFill>
                  <a:srgbClr val="16A34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01" name="TextBox 36"/>
          <p:cNvSpPr txBox="1"/>
          <p:nvPr/>
        </p:nvSpPr>
        <p:spPr>
          <a:xfrm>
            <a:off x="9299447" y="4133088"/>
            <a:ext cx="2331721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202" name="TextBox 37"/>
          <p:cNvSpPr txBox="1"/>
          <p:nvPr/>
        </p:nvSpPr>
        <p:spPr>
          <a:xfrm>
            <a:off x="9299447" y="4489703"/>
            <a:ext cx="2331721" cy="235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0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Save feature image</a:t>
            </a:r>
          </a:p>
        </p:txBody>
      </p:sp>
      <p:sp>
        <p:nvSpPr>
          <p:cNvPr id="203" name="Connector 38"/>
          <p:cNvSpPr/>
          <p:nvPr/>
        </p:nvSpPr>
        <p:spPr>
          <a:xfrm>
            <a:off x="3291840" y="2286000"/>
            <a:ext cx="173737" cy="0"/>
          </a:xfrm>
          <a:prstGeom prst="line">
            <a:avLst/>
          </a:prstGeom>
          <a:ln w="15240">
            <a:solidFill>
              <a:srgbClr val="53657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" name="Connector 39"/>
          <p:cNvSpPr/>
          <p:nvPr/>
        </p:nvSpPr>
        <p:spPr>
          <a:xfrm>
            <a:off x="6126479" y="2286000"/>
            <a:ext cx="173737" cy="0"/>
          </a:xfrm>
          <a:prstGeom prst="line">
            <a:avLst/>
          </a:prstGeom>
          <a:ln w="15240">
            <a:solidFill>
              <a:srgbClr val="53657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" name="Connector 40"/>
          <p:cNvSpPr/>
          <p:nvPr/>
        </p:nvSpPr>
        <p:spPr>
          <a:xfrm>
            <a:off x="8961118" y="2286000"/>
            <a:ext cx="173738" cy="0"/>
          </a:xfrm>
          <a:prstGeom prst="line">
            <a:avLst/>
          </a:prstGeom>
          <a:ln w="15240">
            <a:solidFill>
              <a:srgbClr val="53657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" name="Connector 41"/>
          <p:cNvSpPr/>
          <p:nvPr/>
        </p:nvSpPr>
        <p:spPr>
          <a:xfrm>
            <a:off x="3291840" y="4297679"/>
            <a:ext cx="173737" cy="1"/>
          </a:xfrm>
          <a:prstGeom prst="line">
            <a:avLst/>
          </a:prstGeom>
          <a:ln w="15240">
            <a:solidFill>
              <a:srgbClr val="53657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" name="Connector 42"/>
          <p:cNvSpPr/>
          <p:nvPr/>
        </p:nvSpPr>
        <p:spPr>
          <a:xfrm>
            <a:off x="6126479" y="4297679"/>
            <a:ext cx="173737" cy="1"/>
          </a:xfrm>
          <a:prstGeom prst="line">
            <a:avLst/>
          </a:prstGeom>
          <a:ln w="15240">
            <a:solidFill>
              <a:srgbClr val="53657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" name="Connector 43"/>
          <p:cNvSpPr/>
          <p:nvPr/>
        </p:nvSpPr>
        <p:spPr>
          <a:xfrm>
            <a:off x="8961118" y="4297679"/>
            <a:ext cx="173738" cy="1"/>
          </a:xfrm>
          <a:prstGeom prst="line">
            <a:avLst/>
          </a:prstGeom>
          <a:ln w="15240">
            <a:solidFill>
              <a:srgbClr val="53657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" name="TextBox 44"/>
          <p:cNvSpPr txBox="1"/>
          <p:nvPr/>
        </p:nvSpPr>
        <p:spPr>
          <a:xfrm>
            <a:off x="914399" y="5989320"/>
            <a:ext cx="1024128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script shown in the ZIP processes Cracked_07.jpg and writes CrackDetected-7.jpg.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6D28D9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213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Four simple layers: input, processing, feature extraction and output</a:t>
            </a:r>
          </a:p>
        </p:txBody>
      </p:sp>
      <p:sp>
        <p:nvSpPr>
          <p:cNvPr id="214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215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06 / 20</a:t>
            </a:r>
          </a:p>
        </p:txBody>
      </p:sp>
      <p:sp>
        <p:nvSpPr>
          <p:cNvPr id="216" name="Rounded Rectangle 6"/>
          <p:cNvSpPr/>
          <p:nvPr/>
        </p:nvSpPr>
        <p:spPr>
          <a:xfrm>
            <a:off x="1143000" y="1508760"/>
            <a:ext cx="9875520" cy="74980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7"/>
          <p:cNvSpPr txBox="1"/>
          <p:nvPr/>
        </p:nvSpPr>
        <p:spPr>
          <a:xfrm>
            <a:off x="1389888" y="1618488"/>
            <a:ext cx="228600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200">
                <a:solidFill>
                  <a:srgbClr val="D9770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INPUT LAYER</a:t>
            </a:r>
          </a:p>
        </p:txBody>
      </p:sp>
      <p:sp>
        <p:nvSpPr>
          <p:cNvPr id="218" name="TextBox 8"/>
          <p:cNvSpPr txBox="1"/>
          <p:nvPr/>
        </p:nvSpPr>
        <p:spPr>
          <a:xfrm>
            <a:off x="3703320" y="1609344"/>
            <a:ext cx="6995160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3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Image file loaded with cv2.imread()</a:t>
            </a:r>
          </a:p>
        </p:txBody>
      </p:sp>
      <p:sp>
        <p:nvSpPr>
          <p:cNvPr id="219" name="Connector 9"/>
          <p:cNvSpPr/>
          <p:nvPr/>
        </p:nvSpPr>
        <p:spPr>
          <a:xfrm>
            <a:off x="6080760" y="2276856"/>
            <a:ext cx="1" cy="256033"/>
          </a:xfrm>
          <a:prstGeom prst="line">
            <a:avLst/>
          </a:prstGeom>
          <a:ln w="17780">
            <a:solidFill>
              <a:srgbClr val="53657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" name="Rounded Rectangle 10"/>
          <p:cNvSpPr/>
          <p:nvPr/>
        </p:nvSpPr>
        <p:spPr>
          <a:xfrm>
            <a:off x="1143000" y="2560320"/>
            <a:ext cx="9875520" cy="74980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TextBox 11"/>
          <p:cNvSpPr txBox="1"/>
          <p:nvPr/>
        </p:nvSpPr>
        <p:spPr>
          <a:xfrm>
            <a:off x="1389888" y="2670048"/>
            <a:ext cx="228600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PRE-PROCESSING</a:t>
            </a:r>
          </a:p>
        </p:txBody>
      </p:sp>
      <p:sp>
        <p:nvSpPr>
          <p:cNvPr id="222" name="TextBox 12"/>
          <p:cNvSpPr txBox="1"/>
          <p:nvPr/>
        </p:nvSpPr>
        <p:spPr>
          <a:xfrm>
            <a:off x="3703320" y="2660903"/>
            <a:ext cx="6995160" cy="289022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3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Grayscale → 3×3 averaging blur → logarithmic transform → bilateral filter</a:t>
            </a:r>
          </a:p>
        </p:txBody>
      </p:sp>
      <p:sp>
        <p:nvSpPr>
          <p:cNvPr id="223" name="Connector 13"/>
          <p:cNvSpPr/>
          <p:nvPr/>
        </p:nvSpPr>
        <p:spPr>
          <a:xfrm>
            <a:off x="6080760" y="3328414"/>
            <a:ext cx="1" cy="256033"/>
          </a:xfrm>
          <a:prstGeom prst="line">
            <a:avLst/>
          </a:prstGeom>
          <a:ln w="17780">
            <a:solidFill>
              <a:srgbClr val="53657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" name="Rounded Rectangle 14"/>
          <p:cNvSpPr/>
          <p:nvPr/>
        </p:nvSpPr>
        <p:spPr>
          <a:xfrm>
            <a:off x="1143000" y="3611879"/>
            <a:ext cx="9875520" cy="74980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6D28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TextBox 15"/>
          <p:cNvSpPr txBox="1"/>
          <p:nvPr/>
        </p:nvSpPr>
        <p:spPr>
          <a:xfrm>
            <a:off x="1389888" y="3721606"/>
            <a:ext cx="228600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200">
                <a:solidFill>
                  <a:srgbClr val="6D28D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DETECTION &amp; FEATURES</a:t>
            </a:r>
          </a:p>
        </p:txBody>
      </p:sp>
      <p:sp>
        <p:nvSpPr>
          <p:cNvPr id="226" name="TextBox 16"/>
          <p:cNvSpPr txBox="1"/>
          <p:nvPr/>
        </p:nvSpPr>
        <p:spPr>
          <a:xfrm>
            <a:off x="3703320" y="3712462"/>
            <a:ext cx="6995160" cy="289022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3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Canny edge detection → morphological closing → ORB keypoints/descriptors</a:t>
            </a:r>
          </a:p>
        </p:txBody>
      </p:sp>
      <p:sp>
        <p:nvSpPr>
          <p:cNvPr id="227" name="Connector 17"/>
          <p:cNvSpPr/>
          <p:nvPr/>
        </p:nvSpPr>
        <p:spPr>
          <a:xfrm>
            <a:off x="6080760" y="4379975"/>
            <a:ext cx="1" cy="256033"/>
          </a:xfrm>
          <a:prstGeom prst="line">
            <a:avLst/>
          </a:prstGeom>
          <a:ln w="17780">
            <a:solidFill>
              <a:srgbClr val="53657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" name="Rounded Rectangle 18"/>
          <p:cNvSpPr/>
          <p:nvPr/>
        </p:nvSpPr>
        <p:spPr>
          <a:xfrm>
            <a:off x="1143000" y="4663440"/>
            <a:ext cx="9875520" cy="74980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6A3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TextBox 19"/>
          <p:cNvSpPr txBox="1"/>
          <p:nvPr/>
        </p:nvSpPr>
        <p:spPr>
          <a:xfrm>
            <a:off x="1389888" y="4773167"/>
            <a:ext cx="228600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200">
                <a:solidFill>
                  <a:srgbClr val="16A34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OUTPUT LAYER</a:t>
            </a:r>
          </a:p>
        </p:txBody>
      </p:sp>
      <p:sp>
        <p:nvSpPr>
          <p:cNvPr id="230" name="TextBox 20"/>
          <p:cNvSpPr txBox="1"/>
          <p:nvPr/>
        </p:nvSpPr>
        <p:spPr>
          <a:xfrm>
            <a:off x="3703320" y="4764023"/>
            <a:ext cx="6995160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3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Draw keypoints, save JPG with cv2.imwrite(), display with Matplotlib</a:t>
            </a:r>
          </a:p>
        </p:txBody>
      </p:sp>
      <p:sp>
        <p:nvSpPr>
          <p:cNvPr id="231" name="TextBox 21"/>
          <p:cNvSpPr txBox="1"/>
          <p:nvPr/>
        </p:nvSpPr>
        <p:spPr>
          <a:xfrm>
            <a:off x="914399" y="5897879"/>
            <a:ext cx="10241282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sz="13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Core libraries: Python · NumPy · OpenCV · Matplotlib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D97706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Stage 1: Image capture</a:t>
            </a:r>
          </a:p>
        </p:txBody>
      </p:sp>
      <p:sp>
        <p:nvSpPr>
          <p:cNvPr id="235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High-quality input images are essential</a:t>
            </a:r>
          </a:p>
        </p:txBody>
      </p:sp>
      <p:sp>
        <p:nvSpPr>
          <p:cNvPr id="236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237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07 / 20</a:t>
            </a:r>
          </a:p>
        </p:txBody>
      </p:sp>
      <p:pic>
        <p:nvPicPr>
          <p:cNvPr id="238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2960" y="1508760"/>
            <a:ext cx="5074921" cy="3063240"/>
          </a:xfrm>
          <a:prstGeom prst="rect">
            <a:avLst/>
          </a:prstGeom>
          <a:ln w="15240">
            <a:solidFill>
              <a:srgbClr val="FB923C"/>
            </a:solidFill>
          </a:ln>
        </p:spPr>
      </p:pic>
      <p:pic>
        <p:nvPicPr>
          <p:cNvPr id="239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63640" y="1508760"/>
            <a:ext cx="5074921" cy="3063240"/>
          </a:xfrm>
          <a:prstGeom prst="rect">
            <a:avLst/>
          </a:prstGeom>
          <a:ln w="15240">
            <a:solidFill>
              <a:srgbClr val="FB923C"/>
            </a:solidFill>
          </a:ln>
        </p:spPr>
      </p:pic>
      <p:sp>
        <p:nvSpPr>
          <p:cNvPr id="240" name="TextBox 8"/>
          <p:cNvSpPr txBox="1"/>
          <p:nvPr/>
        </p:nvSpPr>
        <p:spPr>
          <a:xfrm>
            <a:off x="822960" y="4709159"/>
            <a:ext cx="5074921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3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Example input A</a:t>
            </a:r>
          </a:p>
        </p:txBody>
      </p:sp>
      <p:sp>
        <p:nvSpPr>
          <p:cNvPr id="241" name="TextBox 9"/>
          <p:cNvSpPr txBox="1"/>
          <p:nvPr/>
        </p:nvSpPr>
        <p:spPr>
          <a:xfrm>
            <a:off x="6263640" y="4709159"/>
            <a:ext cx="5074921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3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Example input B</a:t>
            </a:r>
          </a:p>
        </p:txBody>
      </p:sp>
      <p:sp>
        <p:nvSpPr>
          <p:cNvPr id="242" name="Rounded Rectangle 10"/>
          <p:cNvSpPr/>
          <p:nvPr/>
        </p:nvSpPr>
        <p:spPr>
          <a:xfrm>
            <a:off x="914400" y="5257800"/>
            <a:ext cx="1033272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Rectangle 11"/>
          <p:cNvSpPr/>
          <p:nvPr/>
        </p:nvSpPr>
        <p:spPr>
          <a:xfrm>
            <a:off x="932688" y="5367528"/>
            <a:ext cx="54865" cy="466345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TextBox 12"/>
          <p:cNvSpPr txBox="1"/>
          <p:nvPr/>
        </p:nvSpPr>
        <p:spPr>
          <a:xfrm>
            <a:off x="1115568" y="5422391"/>
            <a:ext cx="9985248" cy="2985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4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Capture considerations</a:t>
            </a:r>
          </a:p>
        </p:txBody>
      </p:sp>
      <p:sp>
        <p:nvSpPr>
          <p:cNvPr id="245" name="TextBox 13"/>
          <p:cNvSpPr txBox="1"/>
          <p:nvPr/>
        </p:nvSpPr>
        <p:spPr>
          <a:xfrm>
            <a:off x="1115568" y="5824728"/>
            <a:ext cx="9966960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Good focus, sufficient resolution and even lighting improve the chance of detecting crack details.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Stage 2: Grayscale &amp; averaging blur</a:t>
            </a:r>
          </a:p>
        </p:txBody>
      </p:sp>
      <p:sp>
        <p:nvSpPr>
          <p:cNvPr id="249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Simplify intensity information and reduce small-scale noise</a:t>
            </a:r>
          </a:p>
        </p:txBody>
      </p:sp>
      <p:sp>
        <p:nvSpPr>
          <p:cNvPr id="250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251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08 / 20</a:t>
            </a:r>
          </a:p>
        </p:txBody>
      </p:sp>
      <p:pic>
        <p:nvPicPr>
          <p:cNvPr id="252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7240" y="1554480"/>
            <a:ext cx="3246121" cy="2286001"/>
          </a:xfrm>
          <a:prstGeom prst="rect">
            <a:avLst/>
          </a:prstGeom>
          <a:ln w="15240">
            <a:solidFill>
              <a:srgbClr val="FB923C"/>
            </a:solidFill>
          </a:ln>
        </p:spPr>
      </p:pic>
      <p:pic>
        <p:nvPicPr>
          <p:cNvPr id="253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480559" y="1554480"/>
            <a:ext cx="3246121" cy="2286001"/>
          </a:xfrm>
          <a:prstGeom prst="rect">
            <a:avLst/>
          </a:prstGeom>
          <a:ln w="15240">
            <a:solidFill>
              <a:srgbClr val="22D3EE"/>
            </a:solidFill>
          </a:ln>
        </p:spPr>
      </p:pic>
      <p:pic>
        <p:nvPicPr>
          <p:cNvPr id="254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83878" y="1554480"/>
            <a:ext cx="3246121" cy="2286001"/>
          </a:xfrm>
          <a:prstGeom prst="rect">
            <a:avLst/>
          </a:prstGeom>
          <a:ln w="15240">
            <a:solidFill>
              <a:srgbClr val="A855F7"/>
            </a:solidFill>
          </a:ln>
        </p:spPr>
      </p:pic>
      <p:sp>
        <p:nvSpPr>
          <p:cNvPr id="255" name="TextBox 9"/>
          <p:cNvSpPr txBox="1"/>
          <p:nvPr/>
        </p:nvSpPr>
        <p:spPr>
          <a:xfrm>
            <a:off x="777239" y="3977638"/>
            <a:ext cx="3246122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300">
                <a:solidFill>
                  <a:srgbClr val="D9770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Original image</a:t>
            </a:r>
          </a:p>
        </p:txBody>
      </p:sp>
      <p:sp>
        <p:nvSpPr>
          <p:cNvPr id="256" name="TextBox 10"/>
          <p:cNvSpPr txBox="1"/>
          <p:nvPr/>
        </p:nvSpPr>
        <p:spPr>
          <a:xfrm>
            <a:off x="4480559" y="3977638"/>
            <a:ext cx="3246121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3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Grayscale</a:t>
            </a:r>
          </a:p>
        </p:txBody>
      </p:sp>
      <p:sp>
        <p:nvSpPr>
          <p:cNvPr id="257" name="TextBox 11"/>
          <p:cNvSpPr txBox="1"/>
          <p:nvPr/>
        </p:nvSpPr>
        <p:spPr>
          <a:xfrm>
            <a:off x="8183878" y="3977638"/>
            <a:ext cx="3246121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300">
                <a:solidFill>
                  <a:srgbClr val="6D28D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3×3 average blur</a:t>
            </a:r>
          </a:p>
        </p:txBody>
      </p:sp>
      <p:sp>
        <p:nvSpPr>
          <p:cNvPr id="258" name="Rounded Rectangle 12"/>
          <p:cNvSpPr/>
          <p:nvPr/>
        </p:nvSpPr>
        <p:spPr>
          <a:xfrm>
            <a:off x="914400" y="4709159"/>
            <a:ext cx="4983480" cy="914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Rectangle 13"/>
          <p:cNvSpPr/>
          <p:nvPr/>
        </p:nvSpPr>
        <p:spPr>
          <a:xfrm>
            <a:off x="932688" y="4818888"/>
            <a:ext cx="54865" cy="694945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TextBox 14"/>
          <p:cNvSpPr txBox="1"/>
          <p:nvPr/>
        </p:nvSpPr>
        <p:spPr>
          <a:xfrm>
            <a:off x="1115567" y="4873752"/>
            <a:ext cx="4636009" cy="2985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4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Why grayscale?</a:t>
            </a:r>
          </a:p>
        </p:txBody>
      </p:sp>
      <p:sp>
        <p:nvSpPr>
          <p:cNvPr id="261" name="TextBox 15"/>
          <p:cNvSpPr txBox="1"/>
          <p:nvPr/>
        </p:nvSpPr>
        <p:spPr>
          <a:xfrm>
            <a:off x="1115567" y="5276088"/>
            <a:ext cx="4617722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Uses brightness instead of three colour channels.</a:t>
            </a:r>
          </a:p>
        </p:txBody>
      </p:sp>
      <p:sp>
        <p:nvSpPr>
          <p:cNvPr id="262" name="Rounded Rectangle 16"/>
          <p:cNvSpPr/>
          <p:nvPr/>
        </p:nvSpPr>
        <p:spPr>
          <a:xfrm>
            <a:off x="6263640" y="4709159"/>
            <a:ext cx="4983481" cy="9144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Rectangle 17"/>
          <p:cNvSpPr/>
          <p:nvPr/>
        </p:nvSpPr>
        <p:spPr>
          <a:xfrm>
            <a:off x="6281927" y="4818888"/>
            <a:ext cx="54865" cy="694945"/>
          </a:xfrm>
          <a:prstGeom prst="rect">
            <a:avLst/>
          </a:prstGeom>
          <a:solidFill>
            <a:srgbClr val="6D28D9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TextBox 18"/>
          <p:cNvSpPr txBox="1"/>
          <p:nvPr/>
        </p:nvSpPr>
        <p:spPr>
          <a:xfrm>
            <a:off x="6464806" y="4873752"/>
            <a:ext cx="4636010" cy="2985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4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Why blur?</a:t>
            </a:r>
          </a:p>
        </p:txBody>
      </p:sp>
      <p:sp>
        <p:nvSpPr>
          <p:cNvPr id="265" name="TextBox 19"/>
          <p:cNvSpPr txBox="1"/>
          <p:nvPr/>
        </p:nvSpPr>
        <p:spPr>
          <a:xfrm>
            <a:off x="6464806" y="5276088"/>
            <a:ext cx="4617722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Reduces small intensity variations before edge detection.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6D28D9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Stage 3: Logarithmic transformation</a:t>
            </a:r>
          </a:p>
        </p:txBody>
      </p:sp>
      <p:sp>
        <p:nvSpPr>
          <p:cNvPr id="269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Enhance intensity differences in darker regions</a:t>
            </a:r>
          </a:p>
        </p:txBody>
      </p:sp>
      <p:sp>
        <p:nvSpPr>
          <p:cNvPr id="270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271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09 / 20</a:t>
            </a:r>
          </a:p>
        </p:txBody>
      </p:sp>
      <p:pic>
        <p:nvPicPr>
          <p:cNvPr id="272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" y="1645920"/>
            <a:ext cx="4480560" cy="2926080"/>
          </a:xfrm>
          <a:prstGeom prst="rect">
            <a:avLst/>
          </a:prstGeom>
          <a:ln w="15240">
            <a:solidFill>
              <a:srgbClr val="22D3EE"/>
            </a:solidFill>
          </a:ln>
        </p:spPr>
      </p:pic>
      <p:sp>
        <p:nvSpPr>
          <p:cNvPr id="273" name="Connector 7"/>
          <p:cNvSpPr/>
          <p:nvPr/>
        </p:nvSpPr>
        <p:spPr>
          <a:xfrm>
            <a:off x="5623559" y="3108960"/>
            <a:ext cx="822961" cy="1"/>
          </a:xfrm>
          <a:prstGeom prst="line">
            <a:avLst/>
          </a:prstGeom>
          <a:ln w="27940">
            <a:solidFill>
              <a:srgbClr val="6D28D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274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75119" y="1645920"/>
            <a:ext cx="4480561" cy="2926080"/>
          </a:xfrm>
          <a:prstGeom prst="rect">
            <a:avLst/>
          </a:prstGeom>
          <a:ln w="15240">
            <a:solidFill>
              <a:srgbClr val="A855F7"/>
            </a:solidFill>
          </a:ln>
        </p:spPr>
      </p:pic>
      <p:sp>
        <p:nvSpPr>
          <p:cNvPr id="275" name="TextBox 9"/>
          <p:cNvSpPr txBox="1"/>
          <p:nvPr/>
        </p:nvSpPr>
        <p:spPr>
          <a:xfrm>
            <a:off x="914400" y="4709159"/>
            <a:ext cx="4480560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3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Before: blurred grayscale</a:t>
            </a:r>
          </a:p>
        </p:txBody>
      </p:sp>
      <p:sp>
        <p:nvSpPr>
          <p:cNvPr id="276" name="TextBox 10"/>
          <p:cNvSpPr txBox="1"/>
          <p:nvPr/>
        </p:nvSpPr>
        <p:spPr>
          <a:xfrm>
            <a:off x="6675119" y="4709159"/>
            <a:ext cx="4480561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300">
                <a:solidFill>
                  <a:srgbClr val="6D28D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After: log-transformed</a:t>
            </a:r>
          </a:p>
        </p:txBody>
      </p:sp>
      <p:sp>
        <p:nvSpPr>
          <p:cNvPr id="277" name="TextBox 11"/>
          <p:cNvSpPr txBox="1"/>
          <p:nvPr/>
        </p:nvSpPr>
        <p:spPr>
          <a:xfrm>
            <a:off x="914399" y="5349240"/>
            <a:ext cx="10241282" cy="311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5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Typical formula:  s = c · log(1 + r)     |     r = input intensity, c = scaling factor</a:t>
            </a:r>
          </a:p>
        </p:txBody>
      </p:sp>
      <p:sp>
        <p:nvSpPr>
          <p:cNvPr id="278" name="TextBox 12"/>
          <p:cNvSpPr txBox="1"/>
          <p:nvPr/>
        </p:nvSpPr>
        <p:spPr>
          <a:xfrm>
            <a:off x="914399" y="5806440"/>
            <a:ext cx="1024128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It changes contrast; it does not identify a crack on its own.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16A34A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Stage 4: Bilateral filtering</a:t>
            </a:r>
          </a:p>
        </p:txBody>
      </p:sp>
      <p:sp>
        <p:nvSpPr>
          <p:cNvPr id="282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Smooth similar pixels while preserving strong boundaries</a:t>
            </a:r>
          </a:p>
        </p:txBody>
      </p:sp>
      <p:sp>
        <p:nvSpPr>
          <p:cNvPr id="283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284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 / 20</a:t>
            </a:r>
          </a:p>
        </p:txBody>
      </p:sp>
      <p:pic>
        <p:nvPicPr>
          <p:cNvPr id="285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" y="1600200"/>
            <a:ext cx="4480560" cy="2971800"/>
          </a:xfrm>
          <a:prstGeom prst="rect">
            <a:avLst/>
          </a:prstGeom>
          <a:ln w="15240">
            <a:solidFill>
              <a:srgbClr val="A855F7"/>
            </a:solidFill>
          </a:ln>
        </p:spPr>
      </p:pic>
      <p:sp>
        <p:nvSpPr>
          <p:cNvPr id="286" name="Connector 7"/>
          <p:cNvSpPr/>
          <p:nvPr/>
        </p:nvSpPr>
        <p:spPr>
          <a:xfrm>
            <a:off x="5623559" y="3063239"/>
            <a:ext cx="822961" cy="1"/>
          </a:xfrm>
          <a:prstGeom prst="line">
            <a:avLst/>
          </a:prstGeom>
          <a:ln w="27940">
            <a:solidFill>
              <a:srgbClr val="16A34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287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75119" y="1600200"/>
            <a:ext cx="4480561" cy="2971800"/>
          </a:xfrm>
          <a:prstGeom prst="rect">
            <a:avLst/>
          </a:prstGeom>
          <a:ln w="15240">
            <a:solidFill>
              <a:srgbClr val="4ADE80"/>
            </a:solidFill>
          </a:ln>
        </p:spPr>
      </p:pic>
      <p:sp>
        <p:nvSpPr>
          <p:cNvPr id="288" name="TextBox 9"/>
          <p:cNvSpPr txBox="1"/>
          <p:nvPr/>
        </p:nvSpPr>
        <p:spPr>
          <a:xfrm>
            <a:off x="914400" y="4709159"/>
            <a:ext cx="4480560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300">
                <a:solidFill>
                  <a:srgbClr val="6D28D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Log transformed</a:t>
            </a:r>
          </a:p>
        </p:txBody>
      </p:sp>
      <p:sp>
        <p:nvSpPr>
          <p:cNvPr id="289" name="TextBox 10"/>
          <p:cNvSpPr txBox="1"/>
          <p:nvPr/>
        </p:nvSpPr>
        <p:spPr>
          <a:xfrm>
            <a:off x="6675119" y="4709159"/>
            <a:ext cx="4480561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300">
                <a:solidFill>
                  <a:srgbClr val="16A34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Bilateral filtered</a:t>
            </a:r>
          </a:p>
        </p:txBody>
      </p:sp>
      <p:sp>
        <p:nvSpPr>
          <p:cNvPr id="290" name="Rounded Rectangle 11"/>
          <p:cNvSpPr/>
          <p:nvPr/>
        </p:nvSpPr>
        <p:spPr>
          <a:xfrm>
            <a:off x="914400" y="5257800"/>
            <a:ext cx="10241281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Rectangle 12"/>
          <p:cNvSpPr/>
          <p:nvPr/>
        </p:nvSpPr>
        <p:spPr>
          <a:xfrm>
            <a:off x="932688" y="5367528"/>
            <a:ext cx="54865" cy="466345"/>
          </a:xfrm>
          <a:prstGeom prst="rect">
            <a:avLst/>
          </a:prstGeom>
          <a:solidFill>
            <a:srgbClr val="16A34A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TextBox 13"/>
          <p:cNvSpPr txBox="1"/>
          <p:nvPr/>
        </p:nvSpPr>
        <p:spPr>
          <a:xfrm>
            <a:off x="1115567" y="5422391"/>
            <a:ext cx="9893808" cy="2985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4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Key idea</a:t>
            </a:r>
          </a:p>
        </p:txBody>
      </p:sp>
      <p:sp>
        <p:nvSpPr>
          <p:cNvPr id="293" name="TextBox 14"/>
          <p:cNvSpPr txBox="1"/>
          <p:nvPr/>
        </p:nvSpPr>
        <p:spPr>
          <a:xfrm>
            <a:off x="1115567" y="5824728"/>
            <a:ext cx="9875520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filter considers both spatial distance and intensity similarity, reducing blur across strong edges.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D97706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Stage 5: Canny edge detection</a:t>
            </a:r>
          </a:p>
        </p:txBody>
      </p:sp>
      <p:sp>
        <p:nvSpPr>
          <p:cNvPr id="297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Find rapid changes in image intensity</a:t>
            </a:r>
          </a:p>
        </p:txBody>
      </p:sp>
      <p:sp>
        <p:nvSpPr>
          <p:cNvPr id="298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299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11 / 20</a:t>
            </a:r>
          </a:p>
        </p:txBody>
      </p:sp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2960" y="1554480"/>
            <a:ext cx="4983480" cy="3063240"/>
          </a:xfrm>
          <a:prstGeom prst="rect">
            <a:avLst/>
          </a:prstGeom>
          <a:ln w="15240">
            <a:solidFill>
              <a:srgbClr val="4ADE80"/>
            </a:solidFill>
          </a:ln>
        </p:spPr>
      </p:pic>
      <p:sp>
        <p:nvSpPr>
          <p:cNvPr id="301" name="Connector 7"/>
          <p:cNvSpPr/>
          <p:nvPr/>
        </p:nvSpPr>
        <p:spPr>
          <a:xfrm>
            <a:off x="5989320" y="3063239"/>
            <a:ext cx="548641" cy="1"/>
          </a:xfrm>
          <a:prstGeom prst="line">
            <a:avLst/>
          </a:prstGeom>
          <a:ln w="27940">
            <a:solidFill>
              <a:srgbClr val="D9770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20840" y="1554480"/>
            <a:ext cx="4572001" cy="3063240"/>
          </a:xfrm>
          <a:prstGeom prst="rect">
            <a:avLst/>
          </a:prstGeom>
          <a:ln w="15240">
            <a:solidFill>
              <a:srgbClr val="FB923C"/>
            </a:solidFill>
          </a:ln>
        </p:spPr>
      </p:pic>
      <p:sp>
        <p:nvSpPr>
          <p:cNvPr id="303" name="TextBox 9"/>
          <p:cNvSpPr txBox="1"/>
          <p:nvPr/>
        </p:nvSpPr>
        <p:spPr>
          <a:xfrm>
            <a:off x="822960" y="4709159"/>
            <a:ext cx="4983480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300">
                <a:solidFill>
                  <a:srgbClr val="16A34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Filtered image</a:t>
            </a:r>
          </a:p>
        </p:txBody>
      </p:sp>
      <p:sp>
        <p:nvSpPr>
          <p:cNvPr id="304" name="TextBox 10"/>
          <p:cNvSpPr txBox="1"/>
          <p:nvPr/>
        </p:nvSpPr>
        <p:spPr>
          <a:xfrm>
            <a:off x="6720840" y="4709159"/>
            <a:ext cx="4572001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300">
                <a:solidFill>
                  <a:srgbClr val="D9770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Canny edge map</a:t>
            </a:r>
          </a:p>
        </p:txBody>
      </p:sp>
      <p:sp>
        <p:nvSpPr>
          <p:cNvPr id="305" name="Rounded Rectangle 11"/>
          <p:cNvSpPr/>
          <p:nvPr/>
        </p:nvSpPr>
        <p:spPr>
          <a:xfrm>
            <a:off x="868680" y="5257800"/>
            <a:ext cx="338328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Rectangle 12"/>
          <p:cNvSpPr/>
          <p:nvPr/>
        </p:nvSpPr>
        <p:spPr>
          <a:xfrm>
            <a:off x="886967" y="5367528"/>
            <a:ext cx="54865" cy="466345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TextBox 13"/>
          <p:cNvSpPr txBox="1"/>
          <p:nvPr/>
        </p:nvSpPr>
        <p:spPr>
          <a:xfrm>
            <a:off x="1069847" y="5422391"/>
            <a:ext cx="3035809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3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  Gradient</a:t>
            </a:r>
          </a:p>
        </p:txBody>
      </p:sp>
      <p:sp>
        <p:nvSpPr>
          <p:cNvPr id="308" name="TextBox 14"/>
          <p:cNvSpPr txBox="1"/>
          <p:nvPr/>
        </p:nvSpPr>
        <p:spPr>
          <a:xfrm>
            <a:off x="1069847" y="5824728"/>
            <a:ext cx="3017522" cy="235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0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Measure intensity change.</a:t>
            </a:r>
          </a:p>
        </p:txBody>
      </p:sp>
      <p:sp>
        <p:nvSpPr>
          <p:cNvPr id="309" name="Rounded Rectangle 15"/>
          <p:cNvSpPr/>
          <p:nvPr/>
        </p:nvSpPr>
        <p:spPr>
          <a:xfrm>
            <a:off x="4407408" y="5257800"/>
            <a:ext cx="3383281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Rectangle 16"/>
          <p:cNvSpPr/>
          <p:nvPr/>
        </p:nvSpPr>
        <p:spPr>
          <a:xfrm>
            <a:off x="4425696" y="5367528"/>
            <a:ext cx="54865" cy="466345"/>
          </a:xfrm>
          <a:prstGeom prst="rect">
            <a:avLst/>
          </a:prstGeom>
          <a:solidFill>
            <a:srgbClr val="6D28D9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TextBox 17"/>
          <p:cNvSpPr txBox="1"/>
          <p:nvPr/>
        </p:nvSpPr>
        <p:spPr>
          <a:xfrm>
            <a:off x="4608576" y="5422391"/>
            <a:ext cx="3035809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3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  Thin edges</a:t>
            </a:r>
          </a:p>
        </p:txBody>
      </p:sp>
      <p:sp>
        <p:nvSpPr>
          <p:cNvPr id="312" name="TextBox 18"/>
          <p:cNvSpPr txBox="1"/>
          <p:nvPr/>
        </p:nvSpPr>
        <p:spPr>
          <a:xfrm>
            <a:off x="4608576" y="5824728"/>
            <a:ext cx="3017521" cy="235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0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Non-maximum suppression.</a:t>
            </a:r>
          </a:p>
        </p:txBody>
      </p:sp>
      <p:sp>
        <p:nvSpPr>
          <p:cNvPr id="313" name="Rounded Rectangle 19"/>
          <p:cNvSpPr/>
          <p:nvPr/>
        </p:nvSpPr>
        <p:spPr>
          <a:xfrm>
            <a:off x="7946135" y="5257800"/>
            <a:ext cx="3383281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Rectangle 20"/>
          <p:cNvSpPr/>
          <p:nvPr/>
        </p:nvSpPr>
        <p:spPr>
          <a:xfrm>
            <a:off x="7964423" y="5367528"/>
            <a:ext cx="54865" cy="466345"/>
          </a:xfrm>
          <a:prstGeom prst="rect">
            <a:avLst/>
          </a:prstGeom>
          <a:solidFill>
            <a:srgbClr val="D97706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TextBox 21"/>
          <p:cNvSpPr txBox="1"/>
          <p:nvPr/>
        </p:nvSpPr>
        <p:spPr>
          <a:xfrm>
            <a:off x="8147304" y="5422391"/>
            <a:ext cx="3035809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3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3  Thresholds</a:t>
            </a:r>
          </a:p>
        </p:txBody>
      </p:sp>
      <p:sp>
        <p:nvSpPr>
          <p:cNvPr id="316" name="TextBox 22"/>
          <p:cNvSpPr txBox="1"/>
          <p:nvPr/>
        </p:nvSpPr>
        <p:spPr>
          <a:xfrm>
            <a:off x="8147304" y="5824728"/>
            <a:ext cx="3017521" cy="235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0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Keep strong/connected edges.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Stage 6: Morphological closing</a:t>
            </a:r>
          </a:p>
        </p:txBody>
      </p:sp>
      <p:sp>
        <p:nvSpPr>
          <p:cNvPr id="320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Connect small gaps in the detected edge structures</a:t>
            </a:r>
          </a:p>
        </p:txBody>
      </p:sp>
      <p:sp>
        <p:nvSpPr>
          <p:cNvPr id="321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322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12 / 20</a:t>
            </a:r>
          </a:p>
        </p:txBody>
      </p:sp>
      <p:pic>
        <p:nvPicPr>
          <p:cNvPr id="323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" y="1600200"/>
            <a:ext cx="4480560" cy="2880361"/>
          </a:xfrm>
          <a:prstGeom prst="rect">
            <a:avLst/>
          </a:prstGeom>
          <a:ln w="15240">
            <a:solidFill>
              <a:srgbClr val="FB923C"/>
            </a:solidFill>
          </a:ln>
        </p:spPr>
      </p:pic>
      <p:sp>
        <p:nvSpPr>
          <p:cNvPr id="324" name="Connector 7"/>
          <p:cNvSpPr/>
          <p:nvPr/>
        </p:nvSpPr>
        <p:spPr>
          <a:xfrm>
            <a:off x="5623559" y="3017520"/>
            <a:ext cx="822961" cy="1"/>
          </a:xfrm>
          <a:prstGeom prst="line">
            <a:avLst/>
          </a:prstGeom>
          <a:ln w="27940">
            <a:solidFill>
              <a:srgbClr val="2563E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325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75119" y="1600200"/>
            <a:ext cx="4480561" cy="2880361"/>
          </a:xfrm>
          <a:prstGeom prst="rect">
            <a:avLst/>
          </a:prstGeom>
          <a:ln w="15240">
            <a:solidFill>
              <a:srgbClr val="22D3EE"/>
            </a:solidFill>
          </a:ln>
        </p:spPr>
      </p:pic>
      <p:sp>
        <p:nvSpPr>
          <p:cNvPr id="326" name="TextBox 9"/>
          <p:cNvSpPr txBox="1"/>
          <p:nvPr/>
        </p:nvSpPr>
        <p:spPr>
          <a:xfrm>
            <a:off x="914400" y="4617720"/>
            <a:ext cx="4480560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300">
                <a:solidFill>
                  <a:srgbClr val="D9770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Before closing</a:t>
            </a:r>
          </a:p>
        </p:txBody>
      </p:sp>
      <p:sp>
        <p:nvSpPr>
          <p:cNvPr id="327" name="TextBox 10"/>
          <p:cNvSpPr txBox="1"/>
          <p:nvPr/>
        </p:nvSpPr>
        <p:spPr>
          <a:xfrm>
            <a:off x="6675119" y="4617720"/>
            <a:ext cx="4480561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3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After closing</a:t>
            </a:r>
          </a:p>
        </p:txBody>
      </p:sp>
      <p:sp>
        <p:nvSpPr>
          <p:cNvPr id="328" name="Rounded Rectangle 11"/>
          <p:cNvSpPr/>
          <p:nvPr/>
        </p:nvSpPr>
        <p:spPr>
          <a:xfrm>
            <a:off x="914400" y="5166359"/>
            <a:ext cx="4800600" cy="822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Rectangle 12"/>
          <p:cNvSpPr/>
          <p:nvPr/>
        </p:nvSpPr>
        <p:spPr>
          <a:xfrm>
            <a:off x="932688" y="5276088"/>
            <a:ext cx="54865" cy="603505"/>
          </a:xfrm>
          <a:prstGeom prst="rect">
            <a:avLst/>
          </a:prstGeom>
          <a:solidFill>
            <a:srgbClr val="D97706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TextBox 13"/>
          <p:cNvSpPr txBox="1"/>
          <p:nvPr/>
        </p:nvSpPr>
        <p:spPr>
          <a:xfrm>
            <a:off x="1115567" y="5330952"/>
            <a:ext cx="4453130" cy="2985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4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Dilation</a:t>
            </a:r>
          </a:p>
        </p:txBody>
      </p:sp>
      <p:sp>
        <p:nvSpPr>
          <p:cNvPr id="331" name="TextBox 14"/>
          <p:cNvSpPr txBox="1"/>
          <p:nvPr/>
        </p:nvSpPr>
        <p:spPr>
          <a:xfrm>
            <a:off x="1115567" y="5733288"/>
            <a:ext cx="4434842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Expands foreground pixels; nearby segments can join.</a:t>
            </a:r>
          </a:p>
        </p:txBody>
      </p:sp>
      <p:sp>
        <p:nvSpPr>
          <p:cNvPr id="332" name="Rounded Rectangle 15"/>
          <p:cNvSpPr/>
          <p:nvPr/>
        </p:nvSpPr>
        <p:spPr>
          <a:xfrm>
            <a:off x="6355079" y="5166359"/>
            <a:ext cx="4800601" cy="822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Rectangle 16"/>
          <p:cNvSpPr/>
          <p:nvPr/>
        </p:nvSpPr>
        <p:spPr>
          <a:xfrm>
            <a:off x="6373367" y="5276088"/>
            <a:ext cx="54865" cy="603505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TextBox 17"/>
          <p:cNvSpPr txBox="1"/>
          <p:nvPr/>
        </p:nvSpPr>
        <p:spPr>
          <a:xfrm>
            <a:off x="6556247" y="5330952"/>
            <a:ext cx="4453130" cy="2985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4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Then erosion</a:t>
            </a:r>
          </a:p>
        </p:txBody>
      </p:sp>
      <p:sp>
        <p:nvSpPr>
          <p:cNvPr id="335" name="TextBox 18"/>
          <p:cNvSpPr txBox="1"/>
          <p:nvPr/>
        </p:nvSpPr>
        <p:spPr>
          <a:xfrm>
            <a:off x="6556247" y="5733288"/>
            <a:ext cx="4434842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Shrinks the expanded result while retaining some connections.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6D28D9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Stage 7: ORB feature extraction</a:t>
            </a:r>
          </a:p>
        </p:txBody>
      </p:sp>
      <p:sp>
        <p:nvSpPr>
          <p:cNvPr id="339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ORB = Oriented FAST and Rotated BRIEF</a:t>
            </a:r>
          </a:p>
        </p:txBody>
      </p:sp>
      <p:sp>
        <p:nvSpPr>
          <p:cNvPr id="340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341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13 / 20</a:t>
            </a:r>
          </a:p>
        </p:txBody>
      </p:sp>
      <p:pic>
        <p:nvPicPr>
          <p:cNvPr id="342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2960" y="1554480"/>
            <a:ext cx="4800601" cy="3108961"/>
          </a:xfrm>
          <a:prstGeom prst="rect">
            <a:avLst/>
          </a:prstGeom>
          <a:ln w="15240">
            <a:solidFill>
              <a:srgbClr val="22D3EE"/>
            </a:solidFill>
          </a:ln>
        </p:spPr>
      </p:pic>
      <p:pic>
        <p:nvPicPr>
          <p:cNvPr id="343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37959" y="1554480"/>
            <a:ext cx="4800601" cy="3108961"/>
          </a:xfrm>
          <a:prstGeom prst="rect">
            <a:avLst/>
          </a:prstGeom>
          <a:ln w="15240">
            <a:solidFill>
              <a:srgbClr val="A855F7"/>
            </a:solidFill>
          </a:ln>
        </p:spPr>
      </p:pic>
      <p:sp>
        <p:nvSpPr>
          <p:cNvPr id="344" name="Connector 8"/>
          <p:cNvSpPr/>
          <p:nvPr/>
        </p:nvSpPr>
        <p:spPr>
          <a:xfrm>
            <a:off x="5806440" y="3108960"/>
            <a:ext cx="548641" cy="1"/>
          </a:xfrm>
          <a:prstGeom prst="line">
            <a:avLst/>
          </a:prstGeom>
          <a:ln w="27940">
            <a:solidFill>
              <a:srgbClr val="6D28D9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" name="TextBox 9"/>
          <p:cNvSpPr txBox="1"/>
          <p:nvPr/>
        </p:nvSpPr>
        <p:spPr>
          <a:xfrm>
            <a:off x="822960" y="4754879"/>
            <a:ext cx="4800601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3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Closed edge map</a:t>
            </a:r>
          </a:p>
        </p:txBody>
      </p:sp>
      <p:sp>
        <p:nvSpPr>
          <p:cNvPr id="346" name="TextBox 10"/>
          <p:cNvSpPr txBox="1"/>
          <p:nvPr/>
        </p:nvSpPr>
        <p:spPr>
          <a:xfrm>
            <a:off x="6537959" y="4754879"/>
            <a:ext cx="4800601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300">
                <a:solidFill>
                  <a:srgbClr val="6D28D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Keypoints drawn on output</a:t>
            </a:r>
          </a:p>
        </p:txBody>
      </p:sp>
      <p:sp>
        <p:nvSpPr>
          <p:cNvPr id="347" name="Rounded Rectangle 11"/>
          <p:cNvSpPr/>
          <p:nvPr/>
        </p:nvSpPr>
        <p:spPr>
          <a:xfrm>
            <a:off x="914400" y="5257800"/>
            <a:ext cx="4846321" cy="777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Rectangle 12"/>
          <p:cNvSpPr/>
          <p:nvPr/>
        </p:nvSpPr>
        <p:spPr>
          <a:xfrm>
            <a:off x="932688" y="5367528"/>
            <a:ext cx="54865" cy="557785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TextBox 13"/>
          <p:cNvSpPr txBox="1"/>
          <p:nvPr/>
        </p:nvSpPr>
        <p:spPr>
          <a:xfrm>
            <a:off x="1115568" y="5422391"/>
            <a:ext cx="4498848" cy="2985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4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FAST</a:t>
            </a:r>
          </a:p>
        </p:txBody>
      </p:sp>
      <p:sp>
        <p:nvSpPr>
          <p:cNvPr id="350" name="TextBox 14"/>
          <p:cNvSpPr txBox="1"/>
          <p:nvPr/>
        </p:nvSpPr>
        <p:spPr>
          <a:xfrm>
            <a:off x="1115567" y="5824728"/>
            <a:ext cx="4480561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Finds distinctive keypoint locations.</a:t>
            </a:r>
          </a:p>
        </p:txBody>
      </p:sp>
      <p:sp>
        <p:nvSpPr>
          <p:cNvPr id="351" name="Rounded Rectangle 15"/>
          <p:cNvSpPr/>
          <p:nvPr/>
        </p:nvSpPr>
        <p:spPr>
          <a:xfrm>
            <a:off x="6355079" y="5257800"/>
            <a:ext cx="4846321" cy="777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Rectangle 16"/>
          <p:cNvSpPr/>
          <p:nvPr/>
        </p:nvSpPr>
        <p:spPr>
          <a:xfrm>
            <a:off x="6373367" y="5367528"/>
            <a:ext cx="54865" cy="557785"/>
          </a:xfrm>
          <a:prstGeom prst="rect">
            <a:avLst/>
          </a:prstGeom>
          <a:solidFill>
            <a:srgbClr val="6D28D9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TextBox 17"/>
          <p:cNvSpPr txBox="1"/>
          <p:nvPr/>
        </p:nvSpPr>
        <p:spPr>
          <a:xfrm>
            <a:off x="6556247" y="5422391"/>
            <a:ext cx="4498849" cy="2985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4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BRIEF descriptor</a:t>
            </a:r>
          </a:p>
        </p:txBody>
      </p:sp>
      <p:sp>
        <p:nvSpPr>
          <p:cNvPr id="354" name="TextBox 18"/>
          <p:cNvSpPr txBox="1"/>
          <p:nvPr/>
        </p:nvSpPr>
        <p:spPr>
          <a:xfrm>
            <a:off x="6556247" y="5824728"/>
            <a:ext cx="4480560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Represents local appearance as a compact binary descriptor.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16A34A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The full processing pipeline</a:t>
            </a:r>
          </a:p>
        </p:txBody>
      </p:sp>
      <p:sp>
        <p:nvSpPr>
          <p:cNvPr id="358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the script does in sequence</a:t>
            </a:r>
          </a:p>
        </p:txBody>
      </p:sp>
      <p:sp>
        <p:nvSpPr>
          <p:cNvPr id="359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360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14 / 20</a:t>
            </a:r>
          </a:p>
        </p:txBody>
      </p:sp>
      <p:sp>
        <p:nvSpPr>
          <p:cNvPr id="361" name="Rounded Rectangle 6"/>
          <p:cNvSpPr/>
          <p:nvPr/>
        </p:nvSpPr>
        <p:spPr>
          <a:xfrm>
            <a:off x="713231" y="1691639"/>
            <a:ext cx="2487169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TextBox 7"/>
          <p:cNvSpPr txBox="1"/>
          <p:nvPr/>
        </p:nvSpPr>
        <p:spPr>
          <a:xfrm>
            <a:off x="850391" y="1801367"/>
            <a:ext cx="411482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100">
                <a:solidFill>
                  <a:srgbClr val="D9770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63" name="TextBox 8"/>
          <p:cNvSpPr txBox="1"/>
          <p:nvPr/>
        </p:nvSpPr>
        <p:spPr>
          <a:xfrm>
            <a:off x="850391" y="2084832"/>
            <a:ext cx="2212850" cy="311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Read</a:t>
            </a:r>
          </a:p>
        </p:txBody>
      </p:sp>
      <p:sp>
        <p:nvSpPr>
          <p:cNvPr id="364" name="TextBox 9"/>
          <p:cNvSpPr txBox="1"/>
          <p:nvPr/>
        </p:nvSpPr>
        <p:spPr>
          <a:xfrm>
            <a:off x="850391" y="2450592"/>
            <a:ext cx="2212850" cy="2223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9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cv2.imread</a:t>
            </a:r>
          </a:p>
        </p:txBody>
      </p:sp>
      <p:sp>
        <p:nvSpPr>
          <p:cNvPr id="365" name="Rounded Rectangle 10"/>
          <p:cNvSpPr/>
          <p:nvPr/>
        </p:nvSpPr>
        <p:spPr>
          <a:xfrm>
            <a:off x="3621023" y="1691639"/>
            <a:ext cx="2487169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TextBox 11"/>
          <p:cNvSpPr txBox="1"/>
          <p:nvPr/>
        </p:nvSpPr>
        <p:spPr>
          <a:xfrm>
            <a:off x="3758184" y="1801367"/>
            <a:ext cx="411481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67" name="TextBox 12"/>
          <p:cNvSpPr txBox="1"/>
          <p:nvPr/>
        </p:nvSpPr>
        <p:spPr>
          <a:xfrm>
            <a:off x="3758184" y="2084832"/>
            <a:ext cx="2212849" cy="311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Gray + blur</a:t>
            </a:r>
          </a:p>
        </p:txBody>
      </p:sp>
      <p:sp>
        <p:nvSpPr>
          <p:cNvPr id="368" name="TextBox 13"/>
          <p:cNvSpPr txBox="1"/>
          <p:nvPr/>
        </p:nvSpPr>
        <p:spPr>
          <a:xfrm>
            <a:off x="3758184" y="2450592"/>
            <a:ext cx="2212849" cy="2223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9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cv2.cvtColor / cv2.blur</a:t>
            </a:r>
          </a:p>
        </p:txBody>
      </p:sp>
      <p:sp>
        <p:nvSpPr>
          <p:cNvPr id="369" name="Rounded Rectangle 14"/>
          <p:cNvSpPr/>
          <p:nvPr/>
        </p:nvSpPr>
        <p:spPr>
          <a:xfrm>
            <a:off x="6528816" y="1691639"/>
            <a:ext cx="2487169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6D28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TextBox 15"/>
          <p:cNvSpPr txBox="1"/>
          <p:nvPr/>
        </p:nvSpPr>
        <p:spPr>
          <a:xfrm>
            <a:off x="6665976" y="1801367"/>
            <a:ext cx="411481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100">
                <a:solidFill>
                  <a:srgbClr val="6D28D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71" name="TextBox 16"/>
          <p:cNvSpPr txBox="1"/>
          <p:nvPr/>
        </p:nvSpPr>
        <p:spPr>
          <a:xfrm>
            <a:off x="6665976" y="2084832"/>
            <a:ext cx="2212849" cy="311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Log transform</a:t>
            </a:r>
          </a:p>
        </p:txBody>
      </p:sp>
      <p:sp>
        <p:nvSpPr>
          <p:cNvPr id="372" name="TextBox 17"/>
          <p:cNvSpPr txBox="1"/>
          <p:nvPr/>
        </p:nvSpPr>
        <p:spPr>
          <a:xfrm>
            <a:off x="6665976" y="2450592"/>
            <a:ext cx="2212849" cy="2223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9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NumPy log</a:t>
            </a:r>
          </a:p>
        </p:txBody>
      </p:sp>
      <p:sp>
        <p:nvSpPr>
          <p:cNvPr id="373" name="Rounded Rectangle 18"/>
          <p:cNvSpPr/>
          <p:nvPr/>
        </p:nvSpPr>
        <p:spPr>
          <a:xfrm>
            <a:off x="9436607" y="1691639"/>
            <a:ext cx="2487169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6A3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TextBox 19"/>
          <p:cNvSpPr txBox="1"/>
          <p:nvPr/>
        </p:nvSpPr>
        <p:spPr>
          <a:xfrm>
            <a:off x="9573768" y="1801367"/>
            <a:ext cx="411481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100">
                <a:solidFill>
                  <a:srgbClr val="16A34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75" name="TextBox 20"/>
          <p:cNvSpPr txBox="1"/>
          <p:nvPr/>
        </p:nvSpPr>
        <p:spPr>
          <a:xfrm>
            <a:off x="9573768" y="2084832"/>
            <a:ext cx="2212849" cy="311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Bilateral</a:t>
            </a:r>
          </a:p>
        </p:txBody>
      </p:sp>
      <p:sp>
        <p:nvSpPr>
          <p:cNvPr id="376" name="TextBox 21"/>
          <p:cNvSpPr txBox="1"/>
          <p:nvPr/>
        </p:nvSpPr>
        <p:spPr>
          <a:xfrm>
            <a:off x="9573768" y="2450592"/>
            <a:ext cx="2212849" cy="2223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9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cv2.bilateralFilter</a:t>
            </a:r>
          </a:p>
        </p:txBody>
      </p:sp>
      <p:sp>
        <p:nvSpPr>
          <p:cNvPr id="377" name="Rounded Rectangle 22"/>
          <p:cNvSpPr/>
          <p:nvPr/>
        </p:nvSpPr>
        <p:spPr>
          <a:xfrm>
            <a:off x="713231" y="3657600"/>
            <a:ext cx="2487169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8" name="TextBox 23"/>
          <p:cNvSpPr txBox="1"/>
          <p:nvPr/>
        </p:nvSpPr>
        <p:spPr>
          <a:xfrm>
            <a:off x="850391" y="3767328"/>
            <a:ext cx="411482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100">
                <a:solidFill>
                  <a:srgbClr val="D9770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379" name="TextBox 24"/>
          <p:cNvSpPr txBox="1"/>
          <p:nvPr/>
        </p:nvSpPr>
        <p:spPr>
          <a:xfrm>
            <a:off x="850391" y="4050791"/>
            <a:ext cx="2212850" cy="311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Edges</a:t>
            </a:r>
          </a:p>
        </p:txBody>
      </p:sp>
      <p:sp>
        <p:nvSpPr>
          <p:cNvPr id="380" name="TextBox 25"/>
          <p:cNvSpPr txBox="1"/>
          <p:nvPr/>
        </p:nvSpPr>
        <p:spPr>
          <a:xfrm>
            <a:off x="850391" y="4416552"/>
            <a:ext cx="2212850" cy="2223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9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cv2.Canny</a:t>
            </a:r>
          </a:p>
        </p:txBody>
      </p:sp>
      <p:sp>
        <p:nvSpPr>
          <p:cNvPr id="381" name="Rounded Rectangle 26"/>
          <p:cNvSpPr/>
          <p:nvPr/>
        </p:nvSpPr>
        <p:spPr>
          <a:xfrm>
            <a:off x="3621023" y="3657600"/>
            <a:ext cx="2487169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2" name="TextBox 27"/>
          <p:cNvSpPr txBox="1"/>
          <p:nvPr/>
        </p:nvSpPr>
        <p:spPr>
          <a:xfrm>
            <a:off x="3758184" y="3767328"/>
            <a:ext cx="411481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1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383" name="TextBox 28"/>
          <p:cNvSpPr txBox="1"/>
          <p:nvPr/>
        </p:nvSpPr>
        <p:spPr>
          <a:xfrm>
            <a:off x="3758184" y="4050791"/>
            <a:ext cx="2212849" cy="311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Closing</a:t>
            </a:r>
          </a:p>
        </p:txBody>
      </p:sp>
      <p:sp>
        <p:nvSpPr>
          <p:cNvPr id="384" name="TextBox 29"/>
          <p:cNvSpPr txBox="1"/>
          <p:nvPr/>
        </p:nvSpPr>
        <p:spPr>
          <a:xfrm>
            <a:off x="3758184" y="4416552"/>
            <a:ext cx="2212849" cy="2223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9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morphologyEx</a:t>
            </a:r>
          </a:p>
        </p:txBody>
      </p:sp>
      <p:sp>
        <p:nvSpPr>
          <p:cNvPr id="385" name="Rounded Rectangle 30"/>
          <p:cNvSpPr/>
          <p:nvPr/>
        </p:nvSpPr>
        <p:spPr>
          <a:xfrm>
            <a:off x="6528816" y="3657600"/>
            <a:ext cx="2487169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6D28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6" name="TextBox 31"/>
          <p:cNvSpPr txBox="1"/>
          <p:nvPr/>
        </p:nvSpPr>
        <p:spPr>
          <a:xfrm>
            <a:off x="6665976" y="3767328"/>
            <a:ext cx="411481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100">
                <a:solidFill>
                  <a:srgbClr val="6D28D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387" name="TextBox 32"/>
          <p:cNvSpPr txBox="1"/>
          <p:nvPr/>
        </p:nvSpPr>
        <p:spPr>
          <a:xfrm>
            <a:off x="6665976" y="4050791"/>
            <a:ext cx="2212849" cy="311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ORB</a:t>
            </a:r>
          </a:p>
        </p:txBody>
      </p:sp>
      <p:sp>
        <p:nvSpPr>
          <p:cNvPr id="388" name="TextBox 33"/>
          <p:cNvSpPr txBox="1"/>
          <p:nvPr/>
        </p:nvSpPr>
        <p:spPr>
          <a:xfrm>
            <a:off x="6665976" y="4416552"/>
            <a:ext cx="2212849" cy="2223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9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detectAndCompute</a:t>
            </a:r>
          </a:p>
        </p:txBody>
      </p:sp>
      <p:sp>
        <p:nvSpPr>
          <p:cNvPr id="389" name="Rounded Rectangle 34"/>
          <p:cNvSpPr/>
          <p:nvPr/>
        </p:nvSpPr>
        <p:spPr>
          <a:xfrm>
            <a:off x="9436607" y="3657600"/>
            <a:ext cx="2487169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6A3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0" name="TextBox 35"/>
          <p:cNvSpPr txBox="1"/>
          <p:nvPr/>
        </p:nvSpPr>
        <p:spPr>
          <a:xfrm>
            <a:off x="9573768" y="3767328"/>
            <a:ext cx="411481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100">
                <a:solidFill>
                  <a:srgbClr val="16A34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391" name="TextBox 36"/>
          <p:cNvSpPr txBox="1"/>
          <p:nvPr/>
        </p:nvSpPr>
        <p:spPr>
          <a:xfrm>
            <a:off x="9573768" y="4050791"/>
            <a:ext cx="2212849" cy="311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Save</a:t>
            </a:r>
          </a:p>
        </p:txBody>
      </p:sp>
      <p:sp>
        <p:nvSpPr>
          <p:cNvPr id="392" name="TextBox 37"/>
          <p:cNvSpPr txBox="1"/>
          <p:nvPr/>
        </p:nvSpPr>
        <p:spPr>
          <a:xfrm>
            <a:off x="9573768" y="4416552"/>
            <a:ext cx="2212849" cy="2223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9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cv2.imwrite</a:t>
            </a:r>
          </a:p>
        </p:txBody>
      </p:sp>
      <p:sp>
        <p:nvSpPr>
          <p:cNvPr id="393" name="Connector 38"/>
          <p:cNvSpPr/>
          <p:nvPr/>
        </p:nvSpPr>
        <p:spPr>
          <a:xfrm>
            <a:off x="3227832" y="2267711"/>
            <a:ext cx="347473" cy="1"/>
          </a:xfrm>
          <a:prstGeom prst="line">
            <a:avLst/>
          </a:prstGeom>
          <a:ln w="15240">
            <a:solidFill>
              <a:srgbClr val="53657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4" name="Connector 39"/>
          <p:cNvSpPr/>
          <p:nvPr/>
        </p:nvSpPr>
        <p:spPr>
          <a:xfrm>
            <a:off x="6135623" y="2267711"/>
            <a:ext cx="347473" cy="1"/>
          </a:xfrm>
          <a:prstGeom prst="line">
            <a:avLst/>
          </a:prstGeom>
          <a:ln w="15240">
            <a:solidFill>
              <a:srgbClr val="53657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5" name="Connector 40"/>
          <p:cNvSpPr/>
          <p:nvPr/>
        </p:nvSpPr>
        <p:spPr>
          <a:xfrm>
            <a:off x="9043416" y="2267711"/>
            <a:ext cx="347473" cy="1"/>
          </a:xfrm>
          <a:prstGeom prst="line">
            <a:avLst/>
          </a:prstGeom>
          <a:ln w="15240">
            <a:solidFill>
              <a:srgbClr val="53657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6" name="Connector 41"/>
          <p:cNvSpPr/>
          <p:nvPr/>
        </p:nvSpPr>
        <p:spPr>
          <a:xfrm>
            <a:off x="3227832" y="4233671"/>
            <a:ext cx="347473" cy="1"/>
          </a:xfrm>
          <a:prstGeom prst="line">
            <a:avLst/>
          </a:prstGeom>
          <a:ln w="15240">
            <a:solidFill>
              <a:srgbClr val="53657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7" name="Connector 42"/>
          <p:cNvSpPr/>
          <p:nvPr/>
        </p:nvSpPr>
        <p:spPr>
          <a:xfrm>
            <a:off x="6135623" y="4233671"/>
            <a:ext cx="347473" cy="1"/>
          </a:xfrm>
          <a:prstGeom prst="line">
            <a:avLst/>
          </a:prstGeom>
          <a:ln w="15240">
            <a:solidFill>
              <a:srgbClr val="53657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8" name="Connector 43"/>
          <p:cNvSpPr/>
          <p:nvPr/>
        </p:nvSpPr>
        <p:spPr>
          <a:xfrm>
            <a:off x="9043416" y="4233671"/>
            <a:ext cx="347473" cy="1"/>
          </a:xfrm>
          <a:prstGeom prst="line">
            <a:avLst/>
          </a:prstGeom>
          <a:ln w="15240">
            <a:solidFill>
              <a:srgbClr val="53657D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9" name="TextBox 44"/>
          <p:cNvSpPr txBox="1"/>
          <p:nvPr/>
        </p:nvSpPr>
        <p:spPr>
          <a:xfrm>
            <a:off x="914399" y="5897879"/>
            <a:ext cx="10241282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300">
                <a:solidFill>
                  <a:srgbClr val="A1620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current script reads one configured sample image and writes one output file.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2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Results &amp; observations</a:t>
            </a:r>
          </a:p>
        </p:txBody>
      </p:sp>
      <p:sp>
        <p:nvSpPr>
          <p:cNvPr id="403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Sample outputs included in the project ZIP</a:t>
            </a:r>
          </a:p>
        </p:txBody>
      </p:sp>
      <p:sp>
        <p:nvSpPr>
          <p:cNvPr id="404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405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15 / 20</a:t>
            </a:r>
          </a:p>
        </p:txBody>
      </p:sp>
      <p:pic>
        <p:nvPicPr>
          <p:cNvPr id="406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1519" y="1508760"/>
            <a:ext cx="3429001" cy="2514601"/>
          </a:xfrm>
          <a:prstGeom prst="rect">
            <a:avLst/>
          </a:prstGeom>
          <a:ln w="15240">
            <a:solidFill>
              <a:srgbClr val="FB923C"/>
            </a:solidFill>
          </a:ln>
        </p:spPr>
      </p:pic>
      <p:pic>
        <p:nvPicPr>
          <p:cNvPr id="407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89120" y="1508760"/>
            <a:ext cx="3429001" cy="2514601"/>
          </a:xfrm>
          <a:prstGeom prst="rect">
            <a:avLst/>
          </a:prstGeom>
          <a:ln w="15240">
            <a:solidFill>
              <a:srgbClr val="22D3EE"/>
            </a:solidFill>
          </a:ln>
        </p:spPr>
      </p:pic>
      <p:pic>
        <p:nvPicPr>
          <p:cNvPr id="408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046719" y="1508760"/>
            <a:ext cx="3429001" cy="2514601"/>
          </a:xfrm>
          <a:prstGeom prst="rect">
            <a:avLst/>
          </a:prstGeom>
          <a:ln w="15240">
            <a:solidFill>
              <a:srgbClr val="4ADE80"/>
            </a:solidFill>
          </a:ln>
        </p:spPr>
      </p:pic>
      <p:sp>
        <p:nvSpPr>
          <p:cNvPr id="409" name="TextBox 9"/>
          <p:cNvSpPr txBox="1"/>
          <p:nvPr/>
        </p:nvSpPr>
        <p:spPr>
          <a:xfrm>
            <a:off x="731519" y="4114800"/>
            <a:ext cx="342900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200">
                <a:solidFill>
                  <a:srgbClr val="D9770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INPUT</a:t>
            </a:r>
          </a:p>
        </p:txBody>
      </p:sp>
      <p:sp>
        <p:nvSpPr>
          <p:cNvPr id="410" name="TextBox 10"/>
          <p:cNvSpPr txBox="1"/>
          <p:nvPr/>
        </p:nvSpPr>
        <p:spPr>
          <a:xfrm>
            <a:off x="4389120" y="4114800"/>
            <a:ext cx="342900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CANNY EDGES</a:t>
            </a:r>
          </a:p>
        </p:txBody>
      </p:sp>
      <p:sp>
        <p:nvSpPr>
          <p:cNvPr id="411" name="TextBox 11"/>
          <p:cNvSpPr txBox="1"/>
          <p:nvPr/>
        </p:nvSpPr>
        <p:spPr>
          <a:xfrm>
            <a:off x="8046719" y="4114800"/>
            <a:ext cx="342900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200">
                <a:solidFill>
                  <a:srgbClr val="16A34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ORB OUTPUT</a:t>
            </a:r>
          </a:p>
        </p:txBody>
      </p:sp>
      <p:sp>
        <p:nvSpPr>
          <p:cNvPr id="412" name="Rounded Rectangle 12"/>
          <p:cNvSpPr/>
          <p:nvPr/>
        </p:nvSpPr>
        <p:spPr>
          <a:xfrm>
            <a:off x="822960" y="4709159"/>
            <a:ext cx="5074921" cy="1051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3" name="Rectangle 13"/>
          <p:cNvSpPr/>
          <p:nvPr/>
        </p:nvSpPr>
        <p:spPr>
          <a:xfrm>
            <a:off x="841247" y="4818888"/>
            <a:ext cx="54865" cy="832104"/>
          </a:xfrm>
          <a:prstGeom prst="rect">
            <a:avLst/>
          </a:prstGeom>
          <a:solidFill>
            <a:srgbClr val="16A34A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4" name="TextBox 14"/>
          <p:cNvSpPr txBox="1"/>
          <p:nvPr/>
        </p:nvSpPr>
        <p:spPr>
          <a:xfrm>
            <a:off x="1024128" y="4873752"/>
            <a:ext cx="4727448" cy="2985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4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the output shows</a:t>
            </a:r>
          </a:p>
        </p:txBody>
      </p:sp>
      <p:sp>
        <p:nvSpPr>
          <p:cNvPr id="415" name="TextBox 15"/>
          <p:cNvSpPr txBox="1"/>
          <p:nvPr/>
        </p:nvSpPr>
        <p:spPr>
          <a:xfrm>
            <a:off x="1024127" y="5276088"/>
            <a:ext cx="4709161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Candidate edges and visual keypoints are highlighted for inspection.</a:t>
            </a:r>
          </a:p>
        </p:txBody>
      </p:sp>
      <p:sp>
        <p:nvSpPr>
          <p:cNvPr id="416" name="Rounded Rectangle 16"/>
          <p:cNvSpPr/>
          <p:nvPr/>
        </p:nvSpPr>
        <p:spPr>
          <a:xfrm>
            <a:off x="6263640" y="4709159"/>
            <a:ext cx="5074921" cy="1051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7" name="Rectangle 17"/>
          <p:cNvSpPr/>
          <p:nvPr/>
        </p:nvSpPr>
        <p:spPr>
          <a:xfrm>
            <a:off x="6281927" y="4818888"/>
            <a:ext cx="54865" cy="832104"/>
          </a:xfrm>
          <a:prstGeom prst="rect">
            <a:avLst/>
          </a:prstGeom>
          <a:solidFill>
            <a:srgbClr val="D97706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8" name="TextBox 18"/>
          <p:cNvSpPr txBox="1"/>
          <p:nvPr/>
        </p:nvSpPr>
        <p:spPr>
          <a:xfrm>
            <a:off x="6464806" y="4873752"/>
            <a:ext cx="4727449" cy="2985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4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Reported performance</a:t>
            </a:r>
          </a:p>
        </p:txBody>
      </p:sp>
      <p:sp>
        <p:nvSpPr>
          <p:cNvPr id="419" name="TextBox 19"/>
          <p:cNvSpPr txBox="1"/>
          <p:nvPr/>
        </p:nvSpPr>
        <p:spPr>
          <a:xfrm>
            <a:off x="6464806" y="5276088"/>
            <a:ext cx="4709161" cy="412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README suggests 80–90% may be possible on clear images; evaluation details are not provided.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D97706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2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How should performance be evaluated?</a:t>
            </a:r>
          </a:p>
        </p:txBody>
      </p:sp>
      <p:sp>
        <p:nvSpPr>
          <p:cNvPr id="423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Visual output alone is not a validated accuracy score</a:t>
            </a:r>
          </a:p>
        </p:txBody>
      </p:sp>
      <p:sp>
        <p:nvSpPr>
          <p:cNvPr id="424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425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16 / 20</a:t>
            </a:r>
          </a:p>
        </p:txBody>
      </p:sp>
      <p:sp>
        <p:nvSpPr>
          <p:cNvPr id="426" name="Rounded Rectangle 6"/>
          <p:cNvSpPr/>
          <p:nvPr/>
        </p:nvSpPr>
        <p:spPr>
          <a:xfrm>
            <a:off x="822960" y="1508760"/>
            <a:ext cx="3383280" cy="14173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7" name="Rectangle 7"/>
          <p:cNvSpPr/>
          <p:nvPr/>
        </p:nvSpPr>
        <p:spPr>
          <a:xfrm>
            <a:off x="841247" y="1618488"/>
            <a:ext cx="54865" cy="1197865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8" name="TextBox 8"/>
          <p:cNvSpPr txBox="1"/>
          <p:nvPr/>
        </p:nvSpPr>
        <p:spPr>
          <a:xfrm>
            <a:off x="1024127" y="1673350"/>
            <a:ext cx="3035810" cy="3239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6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Precision</a:t>
            </a:r>
          </a:p>
        </p:txBody>
      </p:sp>
      <p:sp>
        <p:nvSpPr>
          <p:cNvPr id="429" name="TextBox 9"/>
          <p:cNvSpPr txBox="1"/>
          <p:nvPr/>
        </p:nvSpPr>
        <p:spPr>
          <a:xfrm>
            <a:off x="1024127" y="2075688"/>
            <a:ext cx="3017522" cy="438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Of the regions marked as cracks, how many are truly cracks?</a:t>
            </a:r>
          </a:p>
        </p:txBody>
      </p:sp>
      <p:sp>
        <p:nvSpPr>
          <p:cNvPr id="430" name="Rounded Rectangle 10"/>
          <p:cNvSpPr/>
          <p:nvPr/>
        </p:nvSpPr>
        <p:spPr>
          <a:xfrm>
            <a:off x="4407408" y="1508760"/>
            <a:ext cx="3383281" cy="14173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1" name="Rectangle 11"/>
          <p:cNvSpPr/>
          <p:nvPr/>
        </p:nvSpPr>
        <p:spPr>
          <a:xfrm>
            <a:off x="4425696" y="1618488"/>
            <a:ext cx="54865" cy="1197865"/>
          </a:xfrm>
          <a:prstGeom prst="rect">
            <a:avLst/>
          </a:prstGeom>
          <a:solidFill>
            <a:srgbClr val="6D28D9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2" name="TextBox 12"/>
          <p:cNvSpPr txBox="1"/>
          <p:nvPr/>
        </p:nvSpPr>
        <p:spPr>
          <a:xfrm>
            <a:off x="4608576" y="1673350"/>
            <a:ext cx="3035809" cy="3239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6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Recall</a:t>
            </a:r>
          </a:p>
        </p:txBody>
      </p:sp>
      <p:sp>
        <p:nvSpPr>
          <p:cNvPr id="433" name="TextBox 13"/>
          <p:cNvSpPr txBox="1"/>
          <p:nvPr/>
        </p:nvSpPr>
        <p:spPr>
          <a:xfrm>
            <a:off x="4608576" y="2075688"/>
            <a:ext cx="3017521" cy="438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Of all real crack regions, how many did the system detect?</a:t>
            </a:r>
          </a:p>
        </p:txBody>
      </p:sp>
      <p:sp>
        <p:nvSpPr>
          <p:cNvPr id="434" name="Rounded Rectangle 14"/>
          <p:cNvSpPr/>
          <p:nvPr/>
        </p:nvSpPr>
        <p:spPr>
          <a:xfrm>
            <a:off x="7991856" y="1508760"/>
            <a:ext cx="3383281" cy="14173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5" name="Rectangle 15"/>
          <p:cNvSpPr/>
          <p:nvPr/>
        </p:nvSpPr>
        <p:spPr>
          <a:xfrm>
            <a:off x="8010143" y="1618488"/>
            <a:ext cx="54865" cy="1197865"/>
          </a:xfrm>
          <a:prstGeom prst="rect">
            <a:avLst/>
          </a:prstGeom>
          <a:solidFill>
            <a:srgbClr val="16A34A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6" name="TextBox 16"/>
          <p:cNvSpPr txBox="1"/>
          <p:nvPr/>
        </p:nvSpPr>
        <p:spPr>
          <a:xfrm>
            <a:off x="8193023" y="1673350"/>
            <a:ext cx="3035810" cy="3239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6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F1-score</a:t>
            </a:r>
          </a:p>
        </p:txBody>
      </p:sp>
      <p:sp>
        <p:nvSpPr>
          <p:cNvPr id="437" name="TextBox 17"/>
          <p:cNvSpPr txBox="1"/>
          <p:nvPr/>
        </p:nvSpPr>
        <p:spPr>
          <a:xfrm>
            <a:off x="8193023" y="2075688"/>
            <a:ext cx="3017522" cy="438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Balances precision and recall in one measure.</a:t>
            </a:r>
          </a:p>
        </p:txBody>
      </p:sp>
      <p:sp>
        <p:nvSpPr>
          <p:cNvPr id="438" name="TextBox 18"/>
          <p:cNvSpPr txBox="1"/>
          <p:nvPr/>
        </p:nvSpPr>
        <p:spPr>
          <a:xfrm>
            <a:off x="868680" y="3429000"/>
            <a:ext cx="3657601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7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Recommended evaluation</a:t>
            </a:r>
          </a:p>
        </p:txBody>
      </p:sp>
      <p:sp>
        <p:nvSpPr>
          <p:cNvPr id="439" name="TextBox 19"/>
          <p:cNvSpPr txBox="1"/>
          <p:nvPr/>
        </p:nvSpPr>
        <p:spPr>
          <a:xfrm>
            <a:off x="914400" y="3886200"/>
            <a:ext cx="10058400" cy="1251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spcBef>
                <a:spcPts val="800"/>
              </a:spcBef>
              <a:defRPr sz="1400">
                <a:latin typeface="Aptos"/>
                <a:ea typeface="Aptos"/>
                <a:cs typeface="Aptos"/>
                <a:sym typeface="Aptos"/>
              </a:defRPr>
            </a:pPr>
            <a:r>
              <a:t>•  Create a labelled test set with cracked and non-cracked images.</a:t>
            </a:r>
            <a:endParaRPr>
              <a:solidFill>
                <a:srgbClr val="B4C1D3"/>
              </a:solidFill>
            </a:endParaRPr>
          </a:p>
          <a:p>
            <a:pPr>
              <a:spcBef>
                <a:spcPts val="800"/>
              </a:spcBef>
              <a:defRPr sz="1400">
                <a:latin typeface="Aptos"/>
                <a:ea typeface="Aptos"/>
                <a:cs typeface="Aptos"/>
                <a:sym typeface="Aptos"/>
              </a:defRPr>
            </a:pPr>
            <a:r>
              <a:t>•  Compare detections against ground-truth crack masks or labels.</a:t>
            </a:r>
            <a:endParaRPr>
              <a:solidFill>
                <a:srgbClr val="B4C1D3"/>
              </a:solidFill>
            </a:endParaRPr>
          </a:p>
          <a:p>
            <a:pPr>
              <a:spcBef>
                <a:spcPts val="800"/>
              </a:spcBef>
              <a:defRPr sz="1400">
                <a:latin typeface="Aptos"/>
                <a:ea typeface="Aptos"/>
                <a:cs typeface="Aptos"/>
                <a:sym typeface="Aptos"/>
              </a:defRPr>
            </a:pPr>
            <a:r>
              <a:t>•  Report false positives, false negatives, precision, recall and F1.</a:t>
            </a:r>
            <a:endParaRPr>
              <a:solidFill>
                <a:srgbClr val="B4C1D3"/>
              </a:solidFill>
            </a:endParaRPr>
          </a:p>
          <a:p>
            <a:pPr>
              <a:spcBef>
                <a:spcPts val="800"/>
              </a:spcBef>
              <a:defRPr sz="1400">
                <a:latin typeface="Aptos"/>
                <a:ea typeface="Aptos"/>
                <a:cs typeface="Aptos"/>
                <a:sym typeface="Aptos"/>
              </a:defRPr>
            </a:pPr>
            <a:r>
              <a:t>•  Test under different lighting, textures and image resolutions.</a:t>
            </a:r>
          </a:p>
        </p:txBody>
      </p:sp>
      <p:sp>
        <p:nvSpPr>
          <p:cNvPr id="440" name="TextBox 20"/>
          <p:cNvSpPr txBox="1"/>
          <p:nvPr/>
        </p:nvSpPr>
        <p:spPr>
          <a:xfrm>
            <a:off x="914399" y="5897879"/>
            <a:ext cx="1024128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200">
                <a:solidFill>
                  <a:srgbClr val="A1620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current README does not document this evaluation protocol.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6D28D9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3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Technology stack</a:t>
            </a:r>
          </a:p>
        </p:txBody>
      </p:sp>
      <p:sp>
        <p:nvSpPr>
          <p:cNvPr id="444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Each library has a focused role</a:t>
            </a:r>
          </a:p>
        </p:txBody>
      </p:sp>
      <p:sp>
        <p:nvSpPr>
          <p:cNvPr id="445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446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17 / 20</a:t>
            </a:r>
          </a:p>
        </p:txBody>
      </p:sp>
      <p:sp>
        <p:nvSpPr>
          <p:cNvPr id="447" name="Rounded Rectangle 6"/>
          <p:cNvSpPr/>
          <p:nvPr/>
        </p:nvSpPr>
        <p:spPr>
          <a:xfrm>
            <a:off x="914400" y="1645920"/>
            <a:ext cx="4892041" cy="132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8" name="Rectangle 7"/>
          <p:cNvSpPr/>
          <p:nvPr/>
        </p:nvSpPr>
        <p:spPr>
          <a:xfrm>
            <a:off x="932688" y="1755648"/>
            <a:ext cx="54865" cy="1106425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9" name="TextBox 8"/>
          <p:cNvSpPr txBox="1"/>
          <p:nvPr/>
        </p:nvSpPr>
        <p:spPr>
          <a:xfrm>
            <a:off x="1115567" y="1810511"/>
            <a:ext cx="4544569" cy="362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450" name="TextBox 9"/>
          <p:cNvSpPr txBox="1"/>
          <p:nvPr/>
        </p:nvSpPr>
        <p:spPr>
          <a:xfrm>
            <a:off x="1115567" y="2212848"/>
            <a:ext cx="4526281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3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Runs the processing script</a:t>
            </a:r>
          </a:p>
        </p:txBody>
      </p:sp>
      <p:sp>
        <p:nvSpPr>
          <p:cNvPr id="451" name="Rounded Rectangle 10"/>
          <p:cNvSpPr/>
          <p:nvPr/>
        </p:nvSpPr>
        <p:spPr>
          <a:xfrm>
            <a:off x="6355079" y="1645920"/>
            <a:ext cx="4892042" cy="132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2" name="Rectangle 11"/>
          <p:cNvSpPr/>
          <p:nvPr/>
        </p:nvSpPr>
        <p:spPr>
          <a:xfrm>
            <a:off x="6373367" y="1755648"/>
            <a:ext cx="54865" cy="1106425"/>
          </a:xfrm>
          <a:prstGeom prst="rect">
            <a:avLst/>
          </a:prstGeom>
          <a:solidFill>
            <a:srgbClr val="D97706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3" name="TextBox 12"/>
          <p:cNvSpPr txBox="1"/>
          <p:nvPr/>
        </p:nvSpPr>
        <p:spPr>
          <a:xfrm>
            <a:off x="6556247" y="1810511"/>
            <a:ext cx="4544569" cy="362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OpenCV</a:t>
            </a:r>
          </a:p>
        </p:txBody>
      </p:sp>
      <p:sp>
        <p:nvSpPr>
          <p:cNvPr id="454" name="TextBox 13"/>
          <p:cNvSpPr txBox="1"/>
          <p:nvPr/>
        </p:nvSpPr>
        <p:spPr>
          <a:xfrm>
            <a:off x="6556247" y="2212848"/>
            <a:ext cx="4526281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3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Image transforms, Canny, closing, ORB</a:t>
            </a:r>
          </a:p>
        </p:txBody>
      </p:sp>
      <p:sp>
        <p:nvSpPr>
          <p:cNvPr id="455" name="Rounded Rectangle 14"/>
          <p:cNvSpPr/>
          <p:nvPr/>
        </p:nvSpPr>
        <p:spPr>
          <a:xfrm>
            <a:off x="914400" y="3474720"/>
            <a:ext cx="4892041" cy="132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6" name="Rectangle 15"/>
          <p:cNvSpPr/>
          <p:nvPr/>
        </p:nvSpPr>
        <p:spPr>
          <a:xfrm>
            <a:off x="932688" y="3584447"/>
            <a:ext cx="54865" cy="1106425"/>
          </a:xfrm>
          <a:prstGeom prst="rect">
            <a:avLst/>
          </a:prstGeom>
          <a:solidFill>
            <a:srgbClr val="6D28D9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7" name="TextBox 16"/>
          <p:cNvSpPr txBox="1"/>
          <p:nvPr/>
        </p:nvSpPr>
        <p:spPr>
          <a:xfrm>
            <a:off x="1115567" y="3639311"/>
            <a:ext cx="4544569" cy="362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NumPy</a:t>
            </a:r>
          </a:p>
        </p:txBody>
      </p:sp>
      <p:sp>
        <p:nvSpPr>
          <p:cNvPr id="458" name="TextBox 17"/>
          <p:cNvSpPr txBox="1"/>
          <p:nvPr/>
        </p:nvSpPr>
        <p:spPr>
          <a:xfrm>
            <a:off x="1115567" y="4041647"/>
            <a:ext cx="4526281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3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Logarithmic intensity transform and arrays</a:t>
            </a:r>
          </a:p>
        </p:txBody>
      </p:sp>
      <p:sp>
        <p:nvSpPr>
          <p:cNvPr id="459" name="Rounded Rectangle 18"/>
          <p:cNvSpPr/>
          <p:nvPr/>
        </p:nvSpPr>
        <p:spPr>
          <a:xfrm>
            <a:off x="6355079" y="3474720"/>
            <a:ext cx="4892042" cy="132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0" name="Rectangle 19"/>
          <p:cNvSpPr/>
          <p:nvPr/>
        </p:nvSpPr>
        <p:spPr>
          <a:xfrm>
            <a:off x="6373367" y="3584447"/>
            <a:ext cx="54865" cy="1106425"/>
          </a:xfrm>
          <a:prstGeom prst="rect">
            <a:avLst/>
          </a:prstGeom>
          <a:solidFill>
            <a:srgbClr val="16A34A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1" name="TextBox 20"/>
          <p:cNvSpPr txBox="1"/>
          <p:nvPr/>
        </p:nvSpPr>
        <p:spPr>
          <a:xfrm>
            <a:off x="6556247" y="3639311"/>
            <a:ext cx="4544569" cy="362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Matplotlib</a:t>
            </a:r>
          </a:p>
        </p:txBody>
      </p:sp>
      <p:sp>
        <p:nvSpPr>
          <p:cNvPr id="462" name="TextBox 21"/>
          <p:cNvSpPr txBox="1"/>
          <p:nvPr/>
        </p:nvSpPr>
        <p:spPr>
          <a:xfrm>
            <a:off x="6556247" y="4041647"/>
            <a:ext cx="4526281" cy="285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3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Displays original and output images</a:t>
            </a:r>
          </a:p>
        </p:txBody>
      </p:sp>
      <p:sp>
        <p:nvSpPr>
          <p:cNvPr id="463" name="TextBox 22"/>
          <p:cNvSpPr txBox="1"/>
          <p:nvPr/>
        </p:nvSpPr>
        <p:spPr>
          <a:xfrm>
            <a:off x="914399" y="5577840"/>
            <a:ext cx="10241282" cy="3239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6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No training dataset, model weights, GPU, web server or database is required by this script.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DC2626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6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Challenges &amp; limitations</a:t>
            </a:r>
          </a:p>
        </p:txBody>
      </p:sp>
      <p:sp>
        <p:nvSpPr>
          <p:cNvPr id="467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can affect the quality of detection?</a:t>
            </a:r>
          </a:p>
        </p:txBody>
      </p:sp>
      <p:sp>
        <p:nvSpPr>
          <p:cNvPr id="468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469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18 / 20</a:t>
            </a:r>
          </a:p>
        </p:txBody>
      </p:sp>
      <p:sp>
        <p:nvSpPr>
          <p:cNvPr id="470" name="Rounded Rectangle 6"/>
          <p:cNvSpPr/>
          <p:nvPr/>
        </p:nvSpPr>
        <p:spPr>
          <a:xfrm>
            <a:off x="822960" y="1463039"/>
            <a:ext cx="5074921" cy="132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1" name="Rectangle 7"/>
          <p:cNvSpPr/>
          <p:nvPr/>
        </p:nvSpPr>
        <p:spPr>
          <a:xfrm>
            <a:off x="841247" y="1572767"/>
            <a:ext cx="54865" cy="1106425"/>
          </a:xfrm>
          <a:prstGeom prst="rect">
            <a:avLst/>
          </a:prstGeom>
          <a:solidFill>
            <a:srgbClr val="DC2626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2" name="TextBox 8"/>
          <p:cNvSpPr txBox="1"/>
          <p:nvPr/>
        </p:nvSpPr>
        <p:spPr>
          <a:xfrm>
            <a:off x="1024128" y="1627632"/>
            <a:ext cx="4727448" cy="311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Shadows and lighting</a:t>
            </a:r>
          </a:p>
        </p:txBody>
      </p:sp>
      <p:sp>
        <p:nvSpPr>
          <p:cNvPr id="473" name="TextBox 9"/>
          <p:cNvSpPr txBox="1"/>
          <p:nvPr/>
        </p:nvSpPr>
        <p:spPr>
          <a:xfrm>
            <a:off x="1024127" y="2029967"/>
            <a:ext cx="4709161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Strong shadows can resemble cracks; uneven light changes contrast.</a:t>
            </a:r>
          </a:p>
        </p:txBody>
      </p:sp>
      <p:sp>
        <p:nvSpPr>
          <p:cNvPr id="474" name="Rounded Rectangle 10"/>
          <p:cNvSpPr/>
          <p:nvPr/>
        </p:nvSpPr>
        <p:spPr>
          <a:xfrm>
            <a:off x="6263640" y="1463039"/>
            <a:ext cx="5074921" cy="132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Rectangle 11"/>
          <p:cNvSpPr/>
          <p:nvPr/>
        </p:nvSpPr>
        <p:spPr>
          <a:xfrm>
            <a:off x="6281927" y="1572767"/>
            <a:ext cx="54865" cy="1106425"/>
          </a:xfrm>
          <a:prstGeom prst="rect">
            <a:avLst/>
          </a:prstGeom>
          <a:solidFill>
            <a:srgbClr val="D97706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TextBox 12"/>
          <p:cNvSpPr txBox="1"/>
          <p:nvPr/>
        </p:nvSpPr>
        <p:spPr>
          <a:xfrm>
            <a:off x="6464806" y="1627632"/>
            <a:ext cx="4727449" cy="311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Road texture</a:t>
            </a:r>
          </a:p>
        </p:txBody>
      </p:sp>
      <p:sp>
        <p:nvSpPr>
          <p:cNvPr id="477" name="TextBox 13"/>
          <p:cNvSpPr txBox="1"/>
          <p:nvPr/>
        </p:nvSpPr>
        <p:spPr>
          <a:xfrm>
            <a:off x="6464806" y="2029967"/>
            <a:ext cx="4709161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Gravel, patches and rough asphalt may create unwanted edges.</a:t>
            </a:r>
          </a:p>
        </p:txBody>
      </p:sp>
      <p:sp>
        <p:nvSpPr>
          <p:cNvPr id="478" name="Rounded Rectangle 14"/>
          <p:cNvSpPr/>
          <p:nvPr/>
        </p:nvSpPr>
        <p:spPr>
          <a:xfrm>
            <a:off x="822960" y="3154679"/>
            <a:ext cx="5074921" cy="132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9" name="Rectangle 15"/>
          <p:cNvSpPr/>
          <p:nvPr/>
        </p:nvSpPr>
        <p:spPr>
          <a:xfrm>
            <a:off x="841247" y="3264408"/>
            <a:ext cx="54865" cy="1106425"/>
          </a:xfrm>
          <a:prstGeom prst="rect">
            <a:avLst/>
          </a:prstGeom>
          <a:solidFill>
            <a:srgbClr val="6D28D9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0" name="TextBox 16"/>
          <p:cNvSpPr txBox="1"/>
          <p:nvPr/>
        </p:nvSpPr>
        <p:spPr>
          <a:xfrm>
            <a:off x="1024128" y="3319271"/>
            <a:ext cx="4727448" cy="311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Parameter sensitivity</a:t>
            </a:r>
          </a:p>
        </p:txBody>
      </p:sp>
      <p:sp>
        <p:nvSpPr>
          <p:cNvPr id="481" name="TextBox 17"/>
          <p:cNvSpPr txBox="1"/>
          <p:nvPr/>
        </p:nvSpPr>
        <p:spPr>
          <a:xfrm>
            <a:off x="1024127" y="3721608"/>
            <a:ext cx="4709161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Canny thresholds and kernel sizes affect the output.</a:t>
            </a:r>
          </a:p>
        </p:txBody>
      </p:sp>
      <p:sp>
        <p:nvSpPr>
          <p:cNvPr id="482" name="Rounded Rectangle 18"/>
          <p:cNvSpPr/>
          <p:nvPr/>
        </p:nvSpPr>
        <p:spPr>
          <a:xfrm>
            <a:off x="6263640" y="3154679"/>
            <a:ext cx="5074921" cy="132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3" name="Rectangle 19"/>
          <p:cNvSpPr/>
          <p:nvPr/>
        </p:nvSpPr>
        <p:spPr>
          <a:xfrm>
            <a:off x="6281927" y="3264408"/>
            <a:ext cx="54865" cy="1106425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4" name="TextBox 20"/>
          <p:cNvSpPr txBox="1"/>
          <p:nvPr/>
        </p:nvSpPr>
        <p:spPr>
          <a:xfrm>
            <a:off x="6464806" y="3319271"/>
            <a:ext cx="4727449" cy="3112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Not a crack classifier</a:t>
            </a:r>
          </a:p>
        </p:txBody>
      </p:sp>
      <p:sp>
        <p:nvSpPr>
          <p:cNvPr id="485" name="TextBox 21"/>
          <p:cNvSpPr txBox="1"/>
          <p:nvPr/>
        </p:nvSpPr>
        <p:spPr>
          <a:xfrm>
            <a:off x="6464806" y="3721608"/>
            <a:ext cx="4709161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ORB detects keypoints; it does not decide whether a feature is a crack.</a:t>
            </a:r>
          </a:p>
        </p:txBody>
      </p:sp>
      <p:sp>
        <p:nvSpPr>
          <p:cNvPr id="486" name="TextBox 22"/>
          <p:cNvSpPr txBox="1"/>
          <p:nvPr/>
        </p:nvSpPr>
        <p:spPr>
          <a:xfrm>
            <a:off x="914399" y="5257800"/>
            <a:ext cx="10241282" cy="336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1700">
                <a:solidFill>
                  <a:srgbClr val="A1620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Current output should support inspection, not replace engineering assessment.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Rectangle 1"/>
          <p:cNvSpPr/>
          <p:nvPr/>
        </p:nvSpPr>
        <p:spPr>
          <a:xfrm>
            <a:off x="502919" y="438912"/>
            <a:ext cx="82297" cy="502920"/>
          </a:xfrm>
          <a:prstGeom prst="rect">
            <a:avLst/>
          </a:prstGeom>
          <a:solidFill>
            <a:srgbClr val="16A34A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9" name="TextBox 2"/>
          <p:cNvSpPr txBox="1"/>
          <p:nvPr/>
        </p:nvSpPr>
        <p:spPr>
          <a:xfrm>
            <a:off x="749808" y="393191"/>
            <a:ext cx="10881360" cy="4890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27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Future scope &amp; key takeaways</a:t>
            </a:r>
          </a:p>
        </p:txBody>
      </p:sp>
      <p:sp>
        <p:nvSpPr>
          <p:cNvPr id="490" name="TextBox 3"/>
          <p:cNvSpPr txBox="1"/>
          <p:nvPr/>
        </p:nvSpPr>
        <p:spPr>
          <a:xfrm>
            <a:off x="768095" y="932688"/>
            <a:ext cx="10789922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2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foundation that can be extended</a:t>
            </a:r>
          </a:p>
        </p:txBody>
      </p:sp>
      <p:sp>
        <p:nvSpPr>
          <p:cNvPr id="491" name="TextBox 4"/>
          <p:cNvSpPr txBox="1"/>
          <p:nvPr/>
        </p:nvSpPr>
        <p:spPr>
          <a:xfrm>
            <a:off x="566927" y="6528816"/>
            <a:ext cx="502920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• OPENCV</a:t>
            </a:r>
          </a:p>
        </p:txBody>
      </p:sp>
      <p:sp>
        <p:nvSpPr>
          <p:cNvPr id="492" name="TextBox 5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19 / 20</a:t>
            </a:r>
          </a:p>
        </p:txBody>
      </p:sp>
      <p:sp>
        <p:nvSpPr>
          <p:cNvPr id="493" name="Rounded Rectangle 6"/>
          <p:cNvSpPr/>
          <p:nvPr/>
        </p:nvSpPr>
        <p:spPr>
          <a:xfrm>
            <a:off x="777240" y="1463039"/>
            <a:ext cx="5120641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4" name="Rectangle 7"/>
          <p:cNvSpPr/>
          <p:nvPr/>
        </p:nvSpPr>
        <p:spPr>
          <a:xfrm>
            <a:off x="795527" y="1572767"/>
            <a:ext cx="54865" cy="923545"/>
          </a:xfrm>
          <a:prstGeom prst="rect">
            <a:avLst/>
          </a:prstGeom>
          <a:solidFill>
            <a:srgbClr val="2563E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5" name="TextBox 8"/>
          <p:cNvSpPr txBox="1"/>
          <p:nvPr/>
        </p:nvSpPr>
        <p:spPr>
          <a:xfrm>
            <a:off x="978408" y="1627632"/>
            <a:ext cx="4773168" cy="2985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4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Batch processing</a:t>
            </a:r>
          </a:p>
        </p:txBody>
      </p:sp>
      <p:sp>
        <p:nvSpPr>
          <p:cNvPr id="496" name="TextBox 9"/>
          <p:cNvSpPr txBox="1"/>
          <p:nvPr/>
        </p:nvSpPr>
        <p:spPr>
          <a:xfrm>
            <a:off x="978407" y="2029967"/>
            <a:ext cx="4754881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Process all images in a folder rather than one hard-coded sample.</a:t>
            </a:r>
          </a:p>
        </p:txBody>
      </p:sp>
      <p:sp>
        <p:nvSpPr>
          <p:cNvPr id="497" name="Rounded Rectangle 10"/>
          <p:cNvSpPr/>
          <p:nvPr/>
        </p:nvSpPr>
        <p:spPr>
          <a:xfrm>
            <a:off x="6263640" y="1463039"/>
            <a:ext cx="5120641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8" name="Rectangle 11"/>
          <p:cNvSpPr/>
          <p:nvPr/>
        </p:nvSpPr>
        <p:spPr>
          <a:xfrm>
            <a:off x="6281927" y="1572767"/>
            <a:ext cx="54865" cy="923545"/>
          </a:xfrm>
          <a:prstGeom prst="rect">
            <a:avLst/>
          </a:prstGeom>
          <a:solidFill>
            <a:srgbClr val="6D28D9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9" name="TextBox 12"/>
          <p:cNvSpPr txBox="1"/>
          <p:nvPr/>
        </p:nvSpPr>
        <p:spPr>
          <a:xfrm>
            <a:off x="6464806" y="1627632"/>
            <a:ext cx="4773169" cy="2985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4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segmentation</a:t>
            </a:r>
          </a:p>
        </p:txBody>
      </p:sp>
      <p:sp>
        <p:nvSpPr>
          <p:cNvPr id="500" name="TextBox 13"/>
          <p:cNvSpPr txBox="1"/>
          <p:nvPr/>
        </p:nvSpPr>
        <p:spPr>
          <a:xfrm>
            <a:off x="6464806" y="2029967"/>
            <a:ext cx="4754881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Produce a clearer crack mask and estimate affected area.</a:t>
            </a:r>
          </a:p>
        </p:txBody>
      </p:sp>
      <p:sp>
        <p:nvSpPr>
          <p:cNvPr id="501" name="Rounded Rectangle 14"/>
          <p:cNvSpPr/>
          <p:nvPr/>
        </p:nvSpPr>
        <p:spPr>
          <a:xfrm>
            <a:off x="777240" y="2880360"/>
            <a:ext cx="5120641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2" name="Rectangle 15"/>
          <p:cNvSpPr/>
          <p:nvPr/>
        </p:nvSpPr>
        <p:spPr>
          <a:xfrm>
            <a:off x="795527" y="2990088"/>
            <a:ext cx="54865" cy="923545"/>
          </a:xfrm>
          <a:prstGeom prst="rect">
            <a:avLst/>
          </a:prstGeom>
          <a:solidFill>
            <a:srgbClr val="D97706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3" name="TextBox 16"/>
          <p:cNvSpPr txBox="1"/>
          <p:nvPr/>
        </p:nvSpPr>
        <p:spPr>
          <a:xfrm>
            <a:off x="978408" y="3044951"/>
            <a:ext cx="4773168" cy="2985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4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Classification</a:t>
            </a:r>
          </a:p>
        </p:txBody>
      </p:sp>
      <p:sp>
        <p:nvSpPr>
          <p:cNvPr id="504" name="TextBox 17"/>
          <p:cNvSpPr txBox="1"/>
          <p:nvPr/>
        </p:nvSpPr>
        <p:spPr>
          <a:xfrm>
            <a:off x="978407" y="3447288"/>
            <a:ext cx="4754881" cy="412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Add a trained model if reliable crack/non-crack or crack-type labels are needed.</a:t>
            </a:r>
          </a:p>
        </p:txBody>
      </p:sp>
      <p:sp>
        <p:nvSpPr>
          <p:cNvPr id="505" name="Rounded Rectangle 18"/>
          <p:cNvSpPr/>
          <p:nvPr/>
        </p:nvSpPr>
        <p:spPr>
          <a:xfrm>
            <a:off x="6263640" y="2880360"/>
            <a:ext cx="5120641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6" name="Rectangle 19"/>
          <p:cNvSpPr/>
          <p:nvPr/>
        </p:nvSpPr>
        <p:spPr>
          <a:xfrm>
            <a:off x="6281927" y="2990088"/>
            <a:ext cx="54865" cy="923545"/>
          </a:xfrm>
          <a:prstGeom prst="rect">
            <a:avLst/>
          </a:prstGeom>
          <a:solidFill>
            <a:srgbClr val="16A34A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7" name="TextBox 20"/>
          <p:cNvSpPr txBox="1"/>
          <p:nvPr/>
        </p:nvSpPr>
        <p:spPr>
          <a:xfrm>
            <a:off x="6464806" y="3044951"/>
            <a:ext cx="4773169" cy="2985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400">
                <a:solidFill>
                  <a:srgbClr val="162A4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Better validation</a:t>
            </a:r>
          </a:p>
        </p:txBody>
      </p:sp>
      <p:sp>
        <p:nvSpPr>
          <p:cNvPr id="508" name="TextBox 21"/>
          <p:cNvSpPr txBox="1"/>
          <p:nvPr/>
        </p:nvSpPr>
        <p:spPr>
          <a:xfrm>
            <a:off x="6464806" y="3447288"/>
            <a:ext cx="4754881" cy="2477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sz="11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Benchmark against labelled data across diverse conditions.</a:t>
            </a:r>
          </a:p>
        </p:txBody>
      </p:sp>
      <p:sp>
        <p:nvSpPr>
          <p:cNvPr id="509" name="TextBox 22"/>
          <p:cNvSpPr txBox="1"/>
          <p:nvPr/>
        </p:nvSpPr>
        <p:spPr>
          <a:xfrm>
            <a:off x="868680" y="4572000"/>
            <a:ext cx="1828801" cy="2604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TAKEAWAYS</a:t>
            </a:r>
          </a:p>
        </p:txBody>
      </p:sp>
      <p:sp>
        <p:nvSpPr>
          <p:cNvPr id="510" name="TextBox 23"/>
          <p:cNvSpPr txBox="1"/>
          <p:nvPr/>
        </p:nvSpPr>
        <p:spPr>
          <a:xfrm>
            <a:off x="914400" y="4892040"/>
            <a:ext cx="10058400" cy="822422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/>
          <a:p>
            <a:pPr>
              <a:spcBef>
                <a:spcPts val="500"/>
              </a:spcBef>
              <a:defRPr sz="1300">
                <a:latin typeface="Aptos"/>
                <a:ea typeface="Aptos"/>
                <a:cs typeface="Aptos"/>
                <a:sym typeface="Aptos"/>
              </a:defRPr>
            </a:pPr>
            <a:r>
              <a:t>•  Traditional computer vision — no model training in the current script.</a:t>
            </a:r>
            <a:endParaRPr>
              <a:solidFill>
                <a:srgbClr val="F5F8FC"/>
              </a:solidFill>
            </a:endParaRPr>
          </a:p>
          <a:p>
            <a:pPr>
              <a:spcBef>
                <a:spcPts val="500"/>
              </a:spcBef>
              <a:defRPr sz="1300">
                <a:latin typeface="Aptos"/>
                <a:ea typeface="Aptos"/>
                <a:cs typeface="Aptos"/>
                <a:sym typeface="Aptos"/>
              </a:defRPr>
            </a:pPr>
            <a:r>
              <a:t>•  Preprocessing → edge map → morphological closing → ORB features.</a:t>
            </a:r>
            <a:endParaRPr>
              <a:solidFill>
                <a:srgbClr val="F5F8FC"/>
              </a:solidFill>
            </a:endParaRPr>
          </a:p>
          <a:p>
            <a:pPr>
              <a:spcBef>
                <a:spcPts val="500"/>
              </a:spcBef>
              <a:defRPr sz="1300">
                <a:latin typeface="Aptos"/>
                <a:ea typeface="Aptos"/>
                <a:cs typeface="Aptos"/>
                <a:sym typeface="Aptos"/>
              </a:defRPr>
            </a:pPr>
            <a:r>
              <a:t>•  Image quality matters; reported accuracy needs a documented test.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Rectangle 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rgbClr val="16A34A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3" name="TextBox 2"/>
          <p:cNvSpPr txBox="1"/>
          <p:nvPr/>
        </p:nvSpPr>
        <p:spPr>
          <a:xfrm>
            <a:off x="786129" y="2394465"/>
            <a:ext cx="10607042" cy="717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4200">
                <a:solidFill>
                  <a:srgbClr val="162A48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514" name="TextBox 3"/>
          <p:cNvSpPr txBox="1"/>
          <p:nvPr/>
        </p:nvSpPr>
        <p:spPr>
          <a:xfrm>
            <a:off x="777239" y="3695700"/>
            <a:ext cx="10607042" cy="4128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b="1" sz="2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Questions &amp; Discussion</a:t>
            </a:r>
          </a:p>
        </p:txBody>
      </p:sp>
      <p:sp>
        <p:nvSpPr>
          <p:cNvPr id="515" name="TextBox 10"/>
          <p:cNvSpPr txBox="1"/>
          <p:nvPr/>
        </p:nvSpPr>
        <p:spPr>
          <a:xfrm>
            <a:off x="914399" y="5760720"/>
            <a:ext cx="10332722" cy="2985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ctr">
              <a:defRPr sz="14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Crack Detection Using OpenCV  ·  Traditional Image Processing</a:t>
            </a:r>
          </a:p>
        </p:txBody>
      </p:sp>
      <p:sp>
        <p:nvSpPr>
          <p:cNvPr id="516" name="TextBox 11"/>
          <p:cNvSpPr txBox="1"/>
          <p:nvPr/>
        </p:nvSpPr>
        <p:spPr>
          <a:xfrm>
            <a:off x="10881359" y="6510528"/>
            <a:ext cx="731521" cy="209678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 algn="r">
              <a:defRPr sz="800">
                <a:solidFill>
                  <a:srgbClr val="5365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20 / 20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